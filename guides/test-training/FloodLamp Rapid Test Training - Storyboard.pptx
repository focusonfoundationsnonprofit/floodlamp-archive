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Montserrat"/>
      <p:regular r:id="rId30"/>
      <p:bold r:id="rId31"/>
      <p:italic r:id="rId32"/>
      <p:boldItalic r:id="rId33"/>
    </p:embeddedFont>
    <p:embeddedFont>
      <p:font typeface="Open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6.xml"/><Relationship Id="rId33" Type="http://schemas.openxmlformats.org/officeDocument/2006/relationships/font" Target="fonts/Montserrat-boldItalic.fntdata"/><Relationship Id="rId10" Type="http://schemas.openxmlformats.org/officeDocument/2006/relationships/slide" Target="slides/slide5.xml"/><Relationship Id="rId32" Type="http://schemas.openxmlformats.org/officeDocument/2006/relationships/font" Target="fonts/Montserrat-italic.fntdata"/><Relationship Id="rId13" Type="http://schemas.openxmlformats.org/officeDocument/2006/relationships/slide" Target="slides/slide8.xml"/><Relationship Id="rId35" Type="http://schemas.openxmlformats.org/officeDocument/2006/relationships/font" Target="fonts/OpenSans-bold.fntdata"/><Relationship Id="rId12" Type="http://schemas.openxmlformats.org/officeDocument/2006/relationships/slide" Target="slides/slide7.xml"/><Relationship Id="rId34" Type="http://schemas.openxmlformats.org/officeDocument/2006/relationships/font" Target="fonts/OpenSans-regular.fntdata"/><Relationship Id="rId15" Type="http://schemas.openxmlformats.org/officeDocument/2006/relationships/slide" Target="slides/slide10.xml"/><Relationship Id="rId37" Type="http://schemas.openxmlformats.org/officeDocument/2006/relationships/font" Target="fonts/OpenSans-boldItalic.fntdata"/><Relationship Id="rId14" Type="http://schemas.openxmlformats.org/officeDocument/2006/relationships/slide" Target="slides/slide9.xml"/><Relationship Id="rId36" Type="http://schemas.openxmlformats.org/officeDocument/2006/relationships/font" Target="fonts/OpenSans-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BIjyjVBHKwJ4ALeNjHQt1TyhHf3kex_o5Zm_5yrTSRg/edit?usp=sharing"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phl.org/aboutAPHL/publications/Documents/WORK_BlueBook.pdf"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BIjyjVBHKwJ4ALeNjHQt1TyhHf3kex_o5Zm_5yrTSRg/edit?usp=sharing"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 name="Google Shape;1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James, I created a copy and am working in here: </a:t>
            </a:r>
            <a:r>
              <a:rPr lang="en" u="sng">
                <a:solidFill>
                  <a:schemeClr val="hlink"/>
                </a:solidFill>
                <a:hlinkClick r:id="rId2"/>
              </a:rPr>
              <a:t>https://docs.google.com/presentation/d/1BIjyjVBHKwJ4ALeNjHQt1TyhHf3kex_o5Zm_5yrTSRg/edit?usp=sharing</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 name="Google Shape;1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https://www.aphl.org/aboutAPHL/publications/Documents/WORK_BlueBook.pdf</a:t>
            </a:r>
            <a:endParaRPr/>
          </a:p>
          <a:p>
            <a:pPr indent="0" lvl="0" marL="0" rtl="0" algn="l">
              <a:lnSpc>
                <a:spcPct val="100000"/>
              </a:lnSpc>
              <a:spcBef>
                <a:spcPts val="0"/>
              </a:spcBef>
              <a:spcAft>
                <a:spcPts val="0"/>
              </a:spcAft>
              <a:buSzPts val="1100"/>
              <a:buNone/>
            </a:pPr>
            <a:r>
              <a:rPr lang="en"/>
              <a:t>We might be able to create our own questionnaire using this doc I found on the CDC website. See page 35.</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James, I created a copy and am working in here: </a:t>
            </a:r>
            <a:r>
              <a:rPr lang="en" u="sng">
                <a:solidFill>
                  <a:schemeClr val="hlink"/>
                </a:solidFill>
                <a:hlinkClick r:id="rId2"/>
              </a:rPr>
              <a:t>https://docs.google.com/presentation/d/1BIjyjVBHKwJ4ALeNjHQt1TyhHf3kex_o5Zm_5yrTSRg/edit?usp=sharing</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Montserrat"/>
              <a:buNone/>
              <a:defRPr b="0" i="0" sz="2800" u="none" cap="none" strike="noStrike">
                <a:solidFill>
                  <a:schemeClr val="dk1"/>
                </a:solidFill>
                <a:latin typeface="Montserrat"/>
                <a:ea typeface="Montserrat"/>
                <a:cs typeface="Montserrat"/>
                <a:sym typeface="Montserrat"/>
              </a:defRPr>
            </a:lvl1pPr>
            <a:lvl2pPr lvl="1" marR="0" rtl="0" algn="l">
              <a:lnSpc>
                <a:spcPct val="100000"/>
              </a:lnSpc>
              <a:spcBef>
                <a:spcPts val="0"/>
              </a:spcBef>
              <a:spcAft>
                <a:spcPts val="0"/>
              </a:spcAft>
              <a:buClr>
                <a:schemeClr val="dk1"/>
              </a:buClr>
              <a:buSzPts val="2800"/>
              <a:buFont typeface="Montserrat"/>
              <a:buNone/>
              <a:defRPr b="0" i="0" sz="2800" u="none" cap="none" strike="noStrike">
                <a:solidFill>
                  <a:schemeClr val="dk1"/>
                </a:solidFill>
                <a:latin typeface="Montserrat"/>
                <a:ea typeface="Montserrat"/>
                <a:cs typeface="Montserrat"/>
                <a:sym typeface="Montserrat"/>
              </a:defRPr>
            </a:lvl2pPr>
            <a:lvl3pPr lvl="2" marR="0" rtl="0" algn="l">
              <a:lnSpc>
                <a:spcPct val="100000"/>
              </a:lnSpc>
              <a:spcBef>
                <a:spcPts val="0"/>
              </a:spcBef>
              <a:spcAft>
                <a:spcPts val="0"/>
              </a:spcAft>
              <a:buClr>
                <a:schemeClr val="dk1"/>
              </a:buClr>
              <a:buSzPts val="2800"/>
              <a:buFont typeface="Montserrat"/>
              <a:buNone/>
              <a:defRPr b="0" i="0" sz="2800" u="none" cap="none" strike="noStrike">
                <a:solidFill>
                  <a:schemeClr val="dk1"/>
                </a:solidFill>
                <a:latin typeface="Montserrat"/>
                <a:ea typeface="Montserrat"/>
                <a:cs typeface="Montserrat"/>
                <a:sym typeface="Montserrat"/>
              </a:defRPr>
            </a:lvl3pPr>
            <a:lvl4pPr lvl="3" marR="0" rtl="0" algn="l">
              <a:lnSpc>
                <a:spcPct val="100000"/>
              </a:lnSpc>
              <a:spcBef>
                <a:spcPts val="0"/>
              </a:spcBef>
              <a:spcAft>
                <a:spcPts val="0"/>
              </a:spcAft>
              <a:buClr>
                <a:schemeClr val="dk1"/>
              </a:buClr>
              <a:buSzPts val="2800"/>
              <a:buFont typeface="Montserrat"/>
              <a:buNone/>
              <a:defRPr b="0" i="0" sz="2800" u="none" cap="none" strike="noStrike">
                <a:solidFill>
                  <a:schemeClr val="dk1"/>
                </a:solidFill>
                <a:latin typeface="Montserrat"/>
                <a:ea typeface="Montserrat"/>
                <a:cs typeface="Montserrat"/>
                <a:sym typeface="Montserrat"/>
              </a:defRPr>
            </a:lvl4pPr>
            <a:lvl5pPr lvl="4" marR="0" rtl="0" algn="l">
              <a:lnSpc>
                <a:spcPct val="100000"/>
              </a:lnSpc>
              <a:spcBef>
                <a:spcPts val="0"/>
              </a:spcBef>
              <a:spcAft>
                <a:spcPts val="0"/>
              </a:spcAft>
              <a:buClr>
                <a:schemeClr val="dk1"/>
              </a:buClr>
              <a:buSzPts val="2800"/>
              <a:buFont typeface="Montserrat"/>
              <a:buNone/>
              <a:defRPr b="0" i="0" sz="2800" u="none" cap="none" strike="noStrike">
                <a:solidFill>
                  <a:schemeClr val="dk1"/>
                </a:solidFill>
                <a:latin typeface="Montserrat"/>
                <a:ea typeface="Montserrat"/>
                <a:cs typeface="Montserrat"/>
                <a:sym typeface="Montserrat"/>
              </a:defRPr>
            </a:lvl5pPr>
            <a:lvl6pPr lvl="5" marR="0" rtl="0" algn="l">
              <a:lnSpc>
                <a:spcPct val="100000"/>
              </a:lnSpc>
              <a:spcBef>
                <a:spcPts val="0"/>
              </a:spcBef>
              <a:spcAft>
                <a:spcPts val="0"/>
              </a:spcAft>
              <a:buClr>
                <a:schemeClr val="dk1"/>
              </a:buClr>
              <a:buSzPts val="2800"/>
              <a:buFont typeface="Montserrat"/>
              <a:buNone/>
              <a:defRPr b="0" i="0" sz="2800" u="none" cap="none" strike="noStrike">
                <a:solidFill>
                  <a:schemeClr val="dk1"/>
                </a:solidFill>
                <a:latin typeface="Montserrat"/>
                <a:ea typeface="Montserrat"/>
                <a:cs typeface="Montserrat"/>
                <a:sym typeface="Montserrat"/>
              </a:defRPr>
            </a:lvl6pPr>
            <a:lvl7pPr lvl="6" marR="0" rtl="0" algn="l">
              <a:lnSpc>
                <a:spcPct val="100000"/>
              </a:lnSpc>
              <a:spcBef>
                <a:spcPts val="0"/>
              </a:spcBef>
              <a:spcAft>
                <a:spcPts val="0"/>
              </a:spcAft>
              <a:buClr>
                <a:schemeClr val="dk1"/>
              </a:buClr>
              <a:buSzPts val="2800"/>
              <a:buFont typeface="Montserrat"/>
              <a:buNone/>
              <a:defRPr b="0" i="0" sz="2800" u="none" cap="none" strike="noStrike">
                <a:solidFill>
                  <a:schemeClr val="dk1"/>
                </a:solidFill>
                <a:latin typeface="Montserrat"/>
                <a:ea typeface="Montserrat"/>
                <a:cs typeface="Montserrat"/>
                <a:sym typeface="Montserrat"/>
              </a:defRPr>
            </a:lvl7pPr>
            <a:lvl8pPr lvl="7" marR="0" rtl="0" algn="l">
              <a:lnSpc>
                <a:spcPct val="100000"/>
              </a:lnSpc>
              <a:spcBef>
                <a:spcPts val="0"/>
              </a:spcBef>
              <a:spcAft>
                <a:spcPts val="0"/>
              </a:spcAft>
              <a:buClr>
                <a:schemeClr val="dk1"/>
              </a:buClr>
              <a:buSzPts val="2800"/>
              <a:buFont typeface="Montserrat"/>
              <a:buNone/>
              <a:defRPr b="0" i="0" sz="2800" u="none" cap="none" strike="noStrike">
                <a:solidFill>
                  <a:schemeClr val="dk1"/>
                </a:solidFill>
                <a:latin typeface="Montserrat"/>
                <a:ea typeface="Montserrat"/>
                <a:cs typeface="Montserrat"/>
                <a:sym typeface="Montserrat"/>
              </a:defRPr>
            </a:lvl8pPr>
            <a:lvl9pPr lvl="8" marR="0" rtl="0" algn="l">
              <a:lnSpc>
                <a:spcPct val="100000"/>
              </a:lnSpc>
              <a:spcBef>
                <a:spcPts val="0"/>
              </a:spcBef>
              <a:spcAft>
                <a:spcPts val="0"/>
              </a:spcAft>
              <a:buClr>
                <a:schemeClr val="dk1"/>
              </a:buClr>
              <a:buSzPts val="2800"/>
              <a:buFont typeface="Montserrat"/>
              <a:buNone/>
              <a:defRPr b="0" i="0" sz="2800" u="none" cap="none" strike="noStrike">
                <a:solidFill>
                  <a:schemeClr val="dk1"/>
                </a:solidFill>
                <a:latin typeface="Montserrat"/>
                <a:ea typeface="Montserrat"/>
                <a:cs typeface="Montserrat"/>
                <a:sym typeface="Montserrat"/>
              </a:defRPr>
            </a:lvl9pPr>
          </a:lstStyle>
          <a:p/>
        </p:txBody>
      </p:sp>
      <p:sp>
        <p:nvSpPr>
          <p:cNvPr id="7" name="Google Shape;7;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8" name="Google Shape;8;p1"/>
          <p:cNvPicPr preferRelativeResize="0"/>
          <p:nvPr/>
        </p:nvPicPr>
        <p:blipFill rotWithShape="1">
          <a:blip r:embed="rId1">
            <a:alphaModFix/>
          </a:blip>
          <a:srcRect b="0" l="0" r="0" t="0"/>
          <a:stretch/>
        </p:blipFill>
        <p:spPr>
          <a:xfrm>
            <a:off x="87850" y="74025"/>
            <a:ext cx="1809725" cy="371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media.springernature.com/lw685/springer-static/image/art%3A10.1186%2Fs12985-020-01435-6/MediaObjects/12985_2020_1435_Fig6_HTML.png" TargetMode="External"/><Relationship Id="rId4" Type="http://schemas.openxmlformats.org/officeDocument/2006/relationships/hyperlink" Target="https://app.mural.co/t/sept15workshop5697/m/sept15workshop5697/1640911228674/b3f6f9e75a4844da55fa8411a3194eb25fa70abf?sender=uc23bfb2d060f665b27f83219" TargetMode="External"/><Relationship Id="rId9" Type="http://schemas.openxmlformats.org/officeDocument/2006/relationships/image" Target="../media/image9.png"/><Relationship Id="rId5" Type="http://schemas.openxmlformats.org/officeDocument/2006/relationships/hyperlink" Target="https://app.mural.co/t/sept15workshop5697/m/sept15workshop5697/1640911228674/b3f6f9e75a4844da55fa8411a3194eb25fa70abf?sender=uc23bfb2d060f665b27f83219" TargetMode="External"/><Relationship Id="rId6" Type="http://schemas.openxmlformats.org/officeDocument/2006/relationships/image" Target="../media/image1.png"/><Relationship Id="rId7" Type="http://schemas.openxmlformats.org/officeDocument/2006/relationships/hyperlink" Target="https://app.mural.co/t/sept15workshop5697/m/sept15workshop5697/1640911228674/b3f6f9e75a4844da55fa8411a3194eb25fa70abf?sender=uc23bfb2d060f665b27f83219" TargetMode="External"/><Relationship Id="rId8"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hyperlink" Target="https://docs.google.com/document/d/1smAkSIAq5bVqeISBqSI8CsagvW7pG-R2F94oMesp2mM/edit" TargetMode="External"/><Relationship Id="rId5" Type="http://schemas.openxmlformats.org/officeDocument/2006/relationships/hyperlink" Target="https://docs.google.com/document/d/18AY3YnWm2JTafOJjddXeFqTZ9jtzHVzkRwpbjZDeAYs/edi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hyperlink" Target="https://drive.google.com/file/d/1sU3WaSrYo46_XfE6e3rsbTxeBgY9JXDJ/view"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hyperlink" Target="https://vimeo.com/602040532" TargetMode="External"/><Relationship Id="rId6"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hyperlink" Target="https://vimeo.com/602040532" TargetMode="External"/><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hyperlink" Target="https://vimeo.com/602040683" TargetMode="External"/><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hyperlink" Target="https://docs.google.com/document/d/1uy3yvlhQb93SUik6PrrC9HkxHTNSOhU5/edit?usp=sharing&amp;ouid=105410179692018054397&amp;rtpof=true&amp;sd=tru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drive.google.com/file/d/1a3f0BFlAaspR8HRZjVYqxocLmtCV4RMl/view" TargetMode="Externa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drive.google.com/file/d/1iqS-enKVdcYz4uTW3cJn6028ZvE1Zd4v/view" TargetMode="Externa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drive.google.com/file/d/1ripU189RWkWSEhqO3jx7GAZEJqLEJO__/view" TargetMode="Externa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drive.google.com/file/d/1_YEiITgRrMBQHIKpKtN-yZwi4VRZXL3G/view" TargetMode="Externa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docs.google.com/document/d/1VS_TXrIsUOZEE_rH2NmPdo25CobDn2oo7FX39PAzOms/edit?usp=sharing" TargetMode="External"/><Relationship Id="rId4" Type="http://schemas.openxmlformats.org/officeDocument/2006/relationships/hyperlink" Target="https://docs.google.com/document/d/1uRxQrbQaVHjEE1TznCyZ-MZcwTKaPddzmW0R7C1g8Tk/edi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 name="Shape 14"/>
        <p:cNvGrpSpPr/>
        <p:nvPr/>
      </p:nvGrpSpPr>
      <p:grpSpPr>
        <a:xfrm>
          <a:off x="0" y="0"/>
          <a:ext cx="0" cy="0"/>
          <a:chOff x="0" y="0"/>
          <a:chExt cx="0" cy="0"/>
        </a:xfrm>
      </p:grpSpPr>
      <p:sp>
        <p:nvSpPr>
          <p:cNvPr id="15" name="Google Shape;15;p3"/>
          <p:cNvSpPr txBox="1"/>
          <p:nvPr/>
        </p:nvSpPr>
        <p:spPr>
          <a:xfrm>
            <a:off x="1645225" y="1593300"/>
            <a:ext cx="6139200" cy="3186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900"/>
              <a:buFont typeface="Arial"/>
              <a:buNone/>
            </a:pPr>
            <a:r>
              <a:rPr b="1" i="0" lang="en" sz="3900" u="none" cap="none" strike="noStrike">
                <a:solidFill>
                  <a:srgbClr val="000000"/>
                </a:solidFill>
                <a:latin typeface="Montserrat"/>
                <a:ea typeface="Montserrat"/>
                <a:cs typeface="Montserrat"/>
                <a:sym typeface="Montserrat"/>
              </a:rPr>
              <a:t>FloodLAMP QuickColor</a:t>
            </a:r>
            <a:r>
              <a:rPr b="1" baseline="30000" i="0" lang="en" sz="3900" u="none" cap="none" strike="noStrike">
                <a:solidFill>
                  <a:srgbClr val="000000"/>
                </a:solidFill>
                <a:latin typeface="Montserrat"/>
                <a:ea typeface="Montserrat"/>
                <a:cs typeface="Montserrat"/>
                <a:sym typeface="Montserrat"/>
              </a:rPr>
              <a:t>TM</a:t>
            </a:r>
            <a:r>
              <a:rPr b="1" i="0" lang="en" sz="3900" u="none" cap="none" strike="noStrike">
                <a:solidFill>
                  <a:srgbClr val="000000"/>
                </a:solidFill>
                <a:latin typeface="Montserrat"/>
                <a:ea typeface="Montserrat"/>
                <a:cs typeface="Montserrat"/>
                <a:sym typeface="Montserrat"/>
              </a:rPr>
              <a:t> Covid-19</a:t>
            </a:r>
            <a:endParaRPr b="1" i="0" sz="39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900"/>
              <a:buFont typeface="Arial"/>
              <a:buNone/>
            </a:pPr>
            <a:r>
              <a:rPr b="1" i="0" lang="en" sz="3900" u="none" cap="none" strike="noStrike">
                <a:solidFill>
                  <a:srgbClr val="000000"/>
                </a:solidFill>
                <a:latin typeface="Montserrat"/>
                <a:ea typeface="Montserrat"/>
                <a:cs typeface="Montserrat"/>
                <a:sym typeface="Montserrat"/>
              </a:rPr>
              <a:t>Training Course</a:t>
            </a:r>
            <a:endParaRPr b="1" i="0" sz="39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900"/>
              <a:buFont typeface="Arial"/>
              <a:buNone/>
            </a:pPr>
            <a:r>
              <a:t/>
            </a:r>
            <a:endParaRPr b="1" i="0" sz="39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900"/>
              <a:buFont typeface="Arial"/>
              <a:buNone/>
            </a:pPr>
            <a:r>
              <a:rPr b="1" i="0" lang="en" sz="3900" u="none" cap="none" strike="noStrike">
                <a:solidFill>
                  <a:srgbClr val="000000"/>
                </a:solidFill>
                <a:latin typeface="Montserrat"/>
                <a:ea typeface="Montserrat"/>
                <a:cs typeface="Montserrat"/>
                <a:sym typeface="Montserrat"/>
              </a:rPr>
              <a:t>STORYBOARD</a:t>
            </a:r>
            <a:endParaRPr b="1" i="0" sz="39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sp>
        <p:nvSpPr>
          <p:cNvPr id="20" name="Google Shape;20;p4"/>
          <p:cNvSpPr/>
          <p:nvPr/>
        </p:nvSpPr>
        <p:spPr>
          <a:xfrm rot="5400000">
            <a:off x="3493675" y="-964550"/>
            <a:ext cx="3136500" cy="7624500"/>
          </a:xfrm>
          <a:prstGeom prst="bracePair">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
          <p:cNvSpPr/>
          <p:nvPr/>
        </p:nvSpPr>
        <p:spPr>
          <a:xfrm>
            <a:off x="192150" y="2872150"/>
            <a:ext cx="638400" cy="633000"/>
          </a:xfrm>
          <a:prstGeom prst="ellipse">
            <a:avLst/>
          </a:prstGeom>
          <a:solidFill>
            <a:schemeClr val="lt2"/>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Learner logs into Moodle</a:t>
            </a:r>
            <a:endParaRPr b="0" i="0" sz="600" u="none" cap="none" strike="noStrike">
              <a:solidFill>
                <a:srgbClr val="000000"/>
              </a:solidFill>
              <a:latin typeface="Arial"/>
              <a:ea typeface="Arial"/>
              <a:cs typeface="Arial"/>
              <a:sym typeface="Arial"/>
            </a:endParaRPr>
          </a:p>
        </p:txBody>
      </p:sp>
      <p:sp>
        <p:nvSpPr>
          <p:cNvPr id="22" name="Google Shape;22;p4"/>
          <p:cNvSpPr/>
          <p:nvPr/>
        </p:nvSpPr>
        <p:spPr>
          <a:xfrm>
            <a:off x="47050" y="889475"/>
            <a:ext cx="928600" cy="602150"/>
          </a:xfrm>
          <a:prstGeom prst="flowChartPreparation">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000000"/>
                </a:solidFill>
                <a:latin typeface="Arial"/>
                <a:ea typeface="Arial"/>
                <a:cs typeface="Arial"/>
                <a:sym typeface="Arial"/>
              </a:rPr>
              <a:t>Send learner link to self-enroll</a:t>
            </a:r>
            <a:endParaRPr b="1" i="0" sz="600" u="none" cap="none" strike="noStrike">
              <a:solidFill>
                <a:srgbClr val="000000"/>
              </a:solidFill>
              <a:latin typeface="Arial"/>
              <a:ea typeface="Arial"/>
              <a:cs typeface="Arial"/>
              <a:sym typeface="Arial"/>
            </a:endParaRPr>
          </a:p>
        </p:txBody>
      </p:sp>
      <p:cxnSp>
        <p:nvCxnSpPr>
          <p:cNvPr id="23" name="Google Shape;23;p4"/>
          <p:cNvCxnSpPr>
            <a:stCxn id="22" idx="2"/>
            <a:endCxn id="21" idx="0"/>
          </p:cNvCxnSpPr>
          <p:nvPr/>
        </p:nvCxnSpPr>
        <p:spPr>
          <a:xfrm>
            <a:off x="511350" y="1491625"/>
            <a:ext cx="0" cy="1380600"/>
          </a:xfrm>
          <a:prstGeom prst="straightConnector1">
            <a:avLst/>
          </a:prstGeom>
          <a:noFill/>
          <a:ln cap="flat" cmpd="sng" w="9525">
            <a:solidFill>
              <a:schemeClr val="dk2"/>
            </a:solidFill>
            <a:prstDash val="solid"/>
            <a:round/>
            <a:headEnd len="sm" w="sm" type="none"/>
            <a:tailEnd len="med" w="med" type="triangle"/>
          </a:ln>
        </p:spPr>
      </p:cxnSp>
      <p:sp>
        <p:nvSpPr>
          <p:cNvPr id="24" name="Google Shape;24;p4"/>
          <p:cNvSpPr/>
          <p:nvPr/>
        </p:nvSpPr>
        <p:spPr>
          <a:xfrm>
            <a:off x="3158513" y="4380050"/>
            <a:ext cx="544025" cy="333600"/>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Retake the course</a:t>
            </a:r>
            <a:endParaRPr b="0" i="0" sz="600" u="none" cap="none" strike="noStrike">
              <a:solidFill>
                <a:srgbClr val="000000"/>
              </a:solidFill>
              <a:latin typeface="Arial"/>
              <a:ea typeface="Arial"/>
              <a:cs typeface="Arial"/>
              <a:sym typeface="Arial"/>
            </a:endParaRPr>
          </a:p>
        </p:txBody>
      </p:sp>
      <p:cxnSp>
        <p:nvCxnSpPr>
          <p:cNvPr id="25" name="Google Shape;25;p4"/>
          <p:cNvCxnSpPr>
            <a:stCxn id="26" idx="3"/>
            <a:endCxn id="27" idx="0"/>
          </p:cNvCxnSpPr>
          <p:nvPr/>
        </p:nvCxnSpPr>
        <p:spPr>
          <a:xfrm flipH="1">
            <a:off x="5586900" y="2147651"/>
            <a:ext cx="233100" cy="1495500"/>
          </a:xfrm>
          <a:prstGeom prst="curvedConnector4">
            <a:avLst>
              <a:gd fmla="val -39779" name="adj1"/>
              <a:gd fmla="val 43739" name="adj2"/>
            </a:avLst>
          </a:prstGeom>
          <a:noFill/>
          <a:ln cap="flat" cmpd="sng" w="9525">
            <a:solidFill>
              <a:schemeClr val="dk2"/>
            </a:solidFill>
            <a:prstDash val="solid"/>
            <a:round/>
            <a:headEnd len="sm" w="sm" type="none"/>
            <a:tailEnd len="sm" w="sm" type="none"/>
          </a:ln>
        </p:spPr>
      </p:cxnSp>
      <p:sp>
        <p:nvSpPr>
          <p:cNvPr id="27" name="Google Shape;27;p4"/>
          <p:cNvSpPr/>
          <p:nvPr/>
        </p:nvSpPr>
        <p:spPr>
          <a:xfrm>
            <a:off x="5394475" y="3643026"/>
            <a:ext cx="384600" cy="200400"/>
          </a:xfrm>
          <a:prstGeom prst="flowChartAlternateProcess">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Fail</a:t>
            </a:r>
            <a:endParaRPr b="0" i="0" sz="600" u="none" cap="none" strike="noStrike">
              <a:solidFill>
                <a:srgbClr val="000000"/>
              </a:solidFill>
              <a:latin typeface="Arial"/>
              <a:ea typeface="Arial"/>
              <a:cs typeface="Arial"/>
              <a:sym typeface="Arial"/>
            </a:endParaRPr>
          </a:p>
        </p:txBody>
      </p:sp>
      <p:cxnSp>
        <p:nvCxnSpPr>
          <p:cNvPr id="28" name="Google Shape;28;p4"/>
          <p:cNvCxnSpPr>
            <a:stCxn id="21" idx="6"/>
            <a:endCxn id="29" idx="1"/>
          </p:cNvCxnSpPr>
          <p:nvPr/>
        </p:nvCxnSpPr>
        <p:spPr>
          <a:xfrm>
            <a:off x="830550" y="3188650"/>
            <a:ext cx="290100" cy="0"/>
          </a:xfrm>
          <a:prstGeom prst="straightConnector1">
            <a:avLst/>
          </a:prstGeom>
          <a:noFill/>
          <a:ln cap="flat" cmpd="sng" w="9525">
            <a:solidFill>
              <a:schemeClr val="dk2"/>
            </a:solidFill>
            <a:prstDash val="solid"/>
            <a:round/>
            <a:headEnd len="sm" w="sm" type="none"/>
            <a:tailEnd len="med" w="med" type="triangle"/>
          </a:ln>
        </p:spPr>
      </p:cxnSp>
      <p:sp>
        <p:nvSpPr>
          <p:cNvPr id="30" name="Google Shape;30;p4"/>
          <p:cNvSpPr txBox="1"/>
          <p:nvPr/>
        </p:nvSpPr>
        <p:spPr>
          <a:xfrm>
            <a:off x="4256728" y="760625"/>
            <a:ext cx="16104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Moodle Course</a:t>
            </a:r>
            <a:endParaRPr b="0" i="0" sz="1400" u="none" cap="none" strike="noStrike">
              <a:solidFill>
                <a:srgbClr val="000000"/>
              </a:solidFill>
              <a:latin typeface="Arial"/>
              <a:ea typeface="Arial"/>
              <a:cs typeface="Arial"/>
              <a:sym typeface="Arial"/>
            </a:endParaRPr>
          </a:p>
        </p:txBody>
      </p:sp>
      <p:cxnSp>
        <p:nvCxnSpPr>
          <p:cNvPr id="31" name="Google Shape;31;p4"/>
          <p:cNvCxnSpPr>
            <a:stCxn id="24" idx="1"/>
            <a:endCxn id="29" idx="1"/>
          </p:cNvCxnSpPr>
          <p:nvPr/>
        </p:nvCxnSpPr>
        <p:spPr>
          <a:xfrm rot="10800000">
            <a:off x="1120613" y="3188750"/>
            <a:ext cx="2037900" cy="1358100"/>
          </a:xfrm>
          <a:prstGeom prst="curvedConnector3">
            <a:avLst>
              <a:gd fmla="val 111681" name="adj1"/>
            </a:avLst>
          </a:prstGeom>
          <a:noFill/>
          <a:ln cap="flat" cmpd="sng" w="9525">
            <a:solidFill>
              <a:schemeClr val="dk2"/>
            </a:solidFill>
            <a:prstDash val="solid"/>
            <a:round/>
            <a:headEnd len="sm" w="sm" type="none"/>
            <a:tailEnd len="med" w="med" type="triangle"/>
          </a:ln>
        </p:spPr>
      </p:cxnSp>
      <p:sp>
        <p:nvSpPr>
          <p:cNvPr id="32" name="Google Shape;32;p4"/>
          <p:cNvSpPr/>
          <p:nvPr/>
        </p:nvSpPr>
        <p:spPr>
          <a:xfrm>
            <a:off x="6376450" y="2747500"/>
            <a:ext cx="701400" cy="797700"/>
          </a:xfrm>
          <a:prstGeom prst="frame">
            <a:avLst>
              <a:gd fmla="val 1250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rgbClr val="000000"/>
                </a:solidFill>
                <a:latin typeface="Arial"/>
                <a:ea typeface="Arial"/>
                <a:cs typeface="Arial"/>
                <a:sym typeface="Arial"/>
              </a:rPr>
              <a:t>Submit self recorded full run to Moodle Assignment</a:t>
            </a:r>
            <a:endParaRPr b="0" i="0" sz="500" u="none" cap="none" strike="noStrike">
              <a:solidFill>
                <a:srgbClr val="000000"/>
              </a:solidFill>
              <a:latin typeface="Arial"/>
              <a:ea typeface="Arial"/>
              <a:cs typeface="Arial"/>
              <a:sym typeface="Arial"/>
            </a:endParaRPr>
          </a:p>
        </p:txBody>
      </p:sp>
      <p:cxnSp>
        <p:nvCxnSpPr>
          <p:cNvPr id="33" name="Google Shape;33;p4"/>
          <p:cNvCxnSpPr>
            <a:stCxn id="26" idx="3"/>
            <a:endCxn id="34" idx="0"/>
          </p:cNvCxnSpPr>
          <p:nvPr/>
        </p:nvCxnSpPr>
        <p:spPr>
          <a:xfrm>
            <a:off x="5820000" y="2147651"/>
            <a:ext cx="316800" cy="383400"/>
          </a:xfrm>
          <a:prstGeom prst="curvedConnector2">
            <a:avLst/>
          </a:prstGeom>
          <a:noFill/>
          <a:ln cap="flat" cmpd="sng" w="9525">
            <a:solidFill>
              <a:schemeClr val="dk2"/>
            </a:solidFill>
            <a:prstDash val="solid"/>
            <a:round/>
            <a:headEnd len="sm" w="sm" type="none"/>
            <a:tailEnd len="sm" w="sm" type="none"/>
          </a:ln>
        </p:spPr>
      </p:cxnSp>
      <p:cxnSp>
        <p:nvCxnSpPr>
          <p:cNvPr id="35" name="Google Shape;35;p4"/>
          <p:cNvCxnSpPr>
            <a:stCxn id="32" idx="3"/>
            <a:endCxn id="36" idx="1"/>
          </p:cNvCxnSpPr>
          <p:nvPr/>
        </p:nvCxnSpPr>
        <p:spPr>
          <a:xfrm rot="10800000">
            <a:off x="6958150" y="1838350"/>
            <a:ext cx="119700" cy="1308000"/>
          </a:xfrm>
          <a:prstGeom prst="curvedConnector5">
            <a:avLst>
              <a:gd fmla="val -198935" name="adj1"/>
              <a:gd fmla="val 56752" name="adj2"/>
              <a:gd fmla="val 386195" name="adj3"/>
            </a:avLst>
          </a:prstGeom>
          <a:noFill/>
          <a:ln cap="flat" cmpd="sng" w="9525">
            <a:solidFill>
              <a:schemeClr val="dk2"/>
            </a:solidFill>
            <a:prstDash val="solid"/>
            <a:round/>
            <a:headEnd len="sm" w="sm" type="none"/>
            <a:tailEnd len="med" w="med" type="triangle"/>
          </a:ln>
        </p:spPr>
      </p:cxnSp>
      <p:sp>
        <p:nvSpPr>
          <p:cNvPr id="36" name="Google Shape;36;p4"/>
          <p:cNvSpPr/>
          <p:nvPr/>
        </p:nvSpPr>
        <p:spPr>
          <a:xfrm>
            <a:off x="6853800" y="1615900"/>
            <a:ext cx="1044650" cy="444750"/>
          </a:xfrm>
          <a:prstGeom prst="flowChartManualOpe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FloodLAMP Staff reviews video</a:t>
            </a:r>
            <a:endParaRPr b="0" i="0" sz="600" u="none" cap="none" strike="noStrike">
              <a:solidFill>
                <a:srgbClr val="000000"/>
              </a:solidFill>
              <a:latin typeface="Arial"/>
              <a:ea typeface="Arial"/>
              <a:cs typeface="Arial"/>
              <a:sym typeface="Arial"/>
            </a:endParaRPr>
          </a:p>
        </p:txBody>
      </p:sp>
      <p:sp>
        <p:nvSpPr>
          <p:cNvPr id="37" name="Google Shape;37;p4"/>
          <p:cNvSpPr/>
          <p:nvPr/>
        </p:nvSpPr>
        <p:spPr>
          <a:xfrm>
            <a:off x="7863750" y="2071652"/>
            <a:ext cx="596950" cy="841500"/>
          </a:xfrm>
          <a:prstGeom prst="flowChartOffpage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FloodLAMP Staff submits checklist on review of video</a:t>
            </a:r>
            <a:endParaRPr b="0" i="0" sz="600" u="none" cap="none" strike="noStrike">
              <a:solidFill>
                <a:srgbClr val="000000"/>
              </a:solidFill>
              <a:latin typeface="Arial"/>
              <a:ea typeface="Arial"/>
              <a:cs typeface="Arial"/>
              <a:sym typeface="Arial"/>
            </a:endParaRPr>
          </a:p>
        </p:txBody>
      </p:sp>
      <p:cxnSp>
        <p:nvCxnSpPr>
          <p:cNvPr id="38" name="Google Shape;38;p4"/>
          <p:cNvCxnSpPr>
            <a:stCxn id="37" idx="0"/>
            <a:endCxn id="36" idx="3"/>
          </p:cNvCxnSpPr>
          <p:nvPr/>
        </p:nvCxnSpPr>
        <p:spPr>
          <a:xfrm flipH="1" rot="5400000">
            <a:off x="7861475" y="1770902"/>
            <a:ext cx="233400" cy="368100"/>
          </a:xfrm>
          <a:prstGeom prst="curvedConnector2">
            <a:avLst/>
          </a:prstGeom>
          <a:noFill/>
          <a:ln cap="flat" cmpd="sng" w="9525">
            <a:solidFill>
              <a:schemeClr val="dk2"/>
            </a:solidFill>
            <a:prstDash val="solid"/>
            <a:round/>
            <a:headEnd len="med" w="med" type="triangle"/>
            <a:tailEnd len="sm" w="sm" type="none"/>
          </a:ln>
        </p:spPr>
      </p:cxnSp>
      <p:grpSp>
        <p:nvGrpSpPr>
          <p:cNvPr id="39" name="Google Shape;39;p4"/>
          <p:cNvGrpSpPr/>
          <p:nvPr/>
        </p:nvGrpSpPr>
        <p:grpSpPr>
          <a:xfrm>
            <a:off x="5138800" y="1808387"/>
            <a:ext cx="681200" cy="678528"/>
            <a:chOff x="6115596" y="2000384"/>
            <a:chExt cx="681200" cy="678325"/>
          </a:xfrm>
        </p:grpSpPr>
        <p:sp>
          <p:nvSpPr>
            <p:cNvPr id="26" name="Google Shape;26;p4"/>
            <p:cNvSpPr/>
            <p:nvPr/>
          </p:nvSpPr>
          <p:spPr>
            <a:xfrm>
              <a:off x="6115596" y="2000384"/>
              <a:ext cx="681200" cy="678325"/>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40" name="Google Shape;40;p4"/>
            <p:cNvSpPr txBox="1"/>
            <p:nvPr/>
          </p:nvSpPr>
          <p:spPr>
            <a:xfrm>
              <a:off x="6239589" y="2003288"/>
              <a:ext cx="435300" cy="646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Self assess via Moodle Quiz</a:t>
              </a:r>
              <a:endParaRPr b="0" i="0" sz="1500" u="none" cap="none" strike="noStrike">
                <a:solidFill>
                  <a:srgbClr val="000000"/>
                </a:solidFill>
                <a:latin typeface="Arial"/>
                <a:ea typeface="Arial"/>
                <a:cs typeface="Arial"/>
                <a:sym typeface="Arial"/>
              </a:endParaRPr>
            </a:p>
          </p:txBody>
        </p:sp>
      </p:grpSp>
      <p:sp>
        <p:nvSpPr>
          <p:cNvPr id="34" name="Google Shape;34;p4"/>
          <p:cNvSpPr/>
          <p:nvPr/>
        </p:nvSpPr>
        <p:spPr>
          <a:xfrm>
            <a:off x="5944400" y="2531038"/>
            <a:ext cx="384600" cy="200400"/>
          </a:xfrm>
          <a:prstGeom prst="flowChartAlternateProcess">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Pass</a:t>
            </a:r>
            <a:endParaRPr b="0" i="0" sz="600" u="none" cap="none" strike="noStrike">
              <a:solidFill>
                <a:srgbClr val="000000"/>
              </a:solidFill>
              <a:latin typeface="Arial"/>
              <a:ea typeface="Arial"/>
              <a:cs typeface="Arial"/>
              <a:sym typeface="Arial"/>
            </a:endParaRPr>
          </a:p>
        </p:txBody>
      </p:sp>
      <p:grpSp>
        <p:nvGrpSpPr>
          <p:cNvPr id="41" name="Google Shape;41;p4"/>
          <p:cNvGrpSpPr/>
          <p:nvPr/>
        </p:nvGrpSpPr>
        <p:grpSpPr>
          <a:xfrm>
            <a:off x="7997235" y="3523350"/>
            <a:ext cx="772500" cy="602100"/>
            <a:chOff x="8171360" y="2927525"/>
            <a:chExt cx="772500" cy="602100"/>
          </a:xfrm>
        </p:grpSpPr>
        <p:sp>
          <p:nvSpPr>
            <p:cNvPr id="42" name="Google Shape;42;p4"/>
            <p:cNvSpPr/>
            <p:nvPr/>
          </p:nvSpPr>
          <p:spPr>
            <a:xfrm>
              <a:off x="8200300" y="2927525"/>
              <a:ext cx="722700" cy="602100"/>
            </a:xfrm>
            <a:prstGeom prst="star6">
              <a:avLst>
                <a:gd fmla="val 28868" name="adj"/>
                <a:gd fmla="val 115470" name="hf"/>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3" name="Google Shape;43;p4"/>
            <p:cNvSpPr txBox="1"/>
            <p:nvPr/>
          </p:nvSpPr>
          <p:spPr>
            <a:xfrm>
              <a:off x="8171360" y="3082325"/>
              <a:ext cx="772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chemeClr val="dk1"/>
                  </a:solidFill>
                  <a:latin typeface="Arial"/>
                  <a:ea typeface="Arial"/>
                  <a:cs typeface="Arial"/>
                  <a:sym typeface="Arial"/>
                </a:rPr>
                <a:t>Certificate</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chemeClr val="dk1"/>
                  </a:solidFill>
                  <a:latin typeface="Arial"/>
                  <a:ea typeface="Arial"/>
                  <a:cs typeface="Arial"/>
                  <a:sym typeface="Arial"/>
                </a:rPr>
                <a:t>!!!</a:t>
              </a:r>
              <a:endParaRPr b="0" i="0" sz="700" u="none" cap="none" strike="noStrike">
                <a:solidFill>
                  <a:schemeClr val="dk1"/>
                </a:solidFill>
                <a:latin typeface="Arial"/>
                <a:ea typeface="Arial"/>
                <a:cs typeface="Arial"/>
                <a:sym typeface="Arial"/>
              </a:endParaRPr>
            </a:p>
          </p:txBody>
        </p:sp>
      </p:grpSp>
      <p:cxnSp>
        <p:nvCxnSpPr>
          <p:cNvPr id="44" name="Google Shape;44;p4"/>
          <p:cNvCxnSpPr>
            <a:stCxn id="45" idx="3"/>
            <a:endCxn id="37" idx="2"/>
          </p:cNvCxnSpPr>
          <p:nvPr/>
        </p:nvCxnSpPr>
        <p:spPr>
          <a:xfrm flipH="1" rot="10800000">
            <a:off x="7568425" y="2913051"/>
            <a:ext cx="593700" cy="784200"/>
          </a:xfrm>
          <a:prstGeom prst="curvedConnector2">
            <a:avLst/>
          </a:prstGeom>
          <a:noFill/>
          <a:ln cap="flat" cmpd="sng" w="9525">
            <a:solidFill>
              <a:schemeClr val="dk2"/>
            </a:solidFill>
            <a:prstDash val="solid"/>
            <a:round/>
            <a:headEnd len="sm" w="sm" type="none"/>
            <a:tailEnd len="sm" w="sm" type="none"/>
          </a:ln>
        </p:spPr>
      </p:cxnSp>
      <p:sp>
        <p:nvSpPr>
          <p:cNvPr id="45" name="Google Shape;45;p4"/>
          <p:cNvSpPr/>
          <p:nvPr/>
        </p:nvSpPr>
        <p:spPr>
          <a:xfrm>
            <a:off x="7183825" y="3597051"/>
            <a:ext cx="384600" cy="200400"/>
          </a:xfrm>
          <a:prstGeom prst="flowChartAlternateProcess">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Fail</a:t>
            </a:r>
            <a:endParaRPr b="0" i="0" sz="600" u="none" cap="none" strike="noStrike">
              <a:solidFill>
                <a:srgbClr val="000000"/>
              </a:solidFill>
              <a:latin typeface="Arial"/>
              <a:ea typeface="Arial"/>
              <a:cs typeface="Arial"/>
              <a:sym typeface="Arial"/>
            </a:endParaRPr>
          </a:p>
        </p:txBody>
      </p:sp>
      <p:sp>
        <p:nvSpPr>
          <p:cNvPr id="46" name="Google Shape;46;p4"/>
          <p:cNvSpPr/>
          <p:nvPr/>
        </p:nvSpPr>
        <p:spPr>
          <a:xfrm>
            <a:off x="8191179" y="3146388"/>
            <a:ext cx="384600" cy="200400"/>
          </a:xfrm>
          <a:prstGeom prst="flowChartAlternateProcess">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Pass</a:t>
            </a:r>
            <a:endParaRPr b="0" i="0" sz="600" u="none" cap="none" strike="noStrike">
              <a:solidFill>
                <a:srgbClr val="000000"/>
              </a:solidFill>
              <a:latin typeface="Arial"/>
              <a:ea typeface="Arial"/>
              <a:cs typeface="Arial"/>
              <a:sym typeface="Arial"/>
            </a:endParaRPr>
          </a:p>
        </p:txBody>
      </p:sp>
      <p:sp>
        <p:nvSpPr>
          <p:cNvPr id="47" name="Google Shape;47;p4"/>
          <p:cNvSpPr txBox="1"/>
          <p:nvPr/>
        </p:nvSpPr>
        <p:spPr>
          <a:xfrm>
            <a:off x="6448100" y="2237025"/>
            <a:ext cx="597000" cy="2616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000000"/>
                </a:solidFill>
                <a:latin typeface="Arial"/>
                <a:ea typeface="Arial"/>
                <a:cs typeface="Arial"/>
                <a:sym typeface="Arial"/>
              </a:rPr>
              <a:t>Notify FL Staff</a:t>
            </a:r>
            <a:endParaRPr b="0" i="0" sz="500" u="none" cap="none" strike="noStrike">
              <a:solidFill>
                <a:srgbClr val="000000"/>
              </a:solidFill>
              <a:latin typeface="Arial"/>
              <a:ea typeface="Arial"/>
              <a:cs typeface="Arial"/>
              <a:sym typeface="Arial"/>
            </a:endParaRPr>
          </a:p>
        </p:txBody>
      </p:sp>
      <p:sp>
        <p:nvSpPr>
          <p:cNvPr id="29" name="Google Shape;29;p4"/>
          <p:cNvSpPr/>
          <p:nvPr/>
        </p:nvSpPr>
        <p:spPr>
          <a:xfrm>
            <a:off x="1120700" y="2807800"/>
            <a:ext cx="928500" cy="7617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rgbClr val="000000"/>
                </a:solidFill>
                <a:latin typeface="Arial"/>
                <a:ea typeface="Arial"/>
                <a:cs typeface="Arial"/>
                <a:sym typeface="Arial"/>
              </a:rPr>
              <a:t>EdPuzzle Interactive video w/ questions</a:t>
            </a:r>
            <a:endParaRPr b="0" i="0" sz="5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n" sz="500" u="none" cap="none" strike="noStrike">
                <a:solidFill>
                  <a:srgbClr val="000000"/>
                </a:solidFill>
                <a:latin typeface="Arial"/>
                <a:ea typeface="Arial"/>
                <a:cs typeface="Arial"/>
                <a:sym typeface="Arial"/>
              </a:rPr>
              <a:t>Create 1X Inactivation Solution</a:t>
            </a:r>
            <a:endParaRPr b="1" i="0" sz="500" u="none" cap="none" strike="noStrike">
              <a:solidFill>
                <a:srgbClr val="000000"/>
              </a:solidFill>
              <a:latin typeface="Arial"/>
              <a:ea typeface="Arial"/>
              <a:cs typeface="Arial"/>
              <a:sym typeface="Arial"/>
            </a:endParaRPr>
          </a:p>
        </p:txBody>
      </p:sp>
      <p:sp>
        <p:nvSpPr>
          <p:cNvPr id="48" name="Google Shape;48;p4"/>
          <p:cNvSpPr/>
          <p:nvPr/>
        </p:nvSpPr>
        <p:spPr>
          <a:xfrm>
            <a:off x="1909363" y="2811450"/>
            <a:ext cx="928500" cy="7617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500" u="none" cap="none" strike="noStrike">
                <a:solidFill>
                  <a:schemeClr val="dk1"/>
                </a:solidFill>
                <a:latin typeface="Arial"/>
                <a:ea typeface="Arial"/>
                <a:cs typeface="Arial"/>
                <a:sym typeface="Arial"/>
              </a:rPr>
              <a:t>EdPuzzle Interactive video w/ questions</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1" i="0" lang="en" sz="500" u="none" cap="none" strike="noStrike">
                <a:solidFill>
                  <a:schemeClr val="dk1"/>
                </a:solidFill>
                <a:latin typeface="Arial"/>
                <a:ea typeface="Arial"/>
                <a:cs typeface="Arial"/>
                <a:sym typeface="Arial"/>
              </a:rPr>
              <a:t>Create Reaction Mix</a:t>
            </a:r>
            <a:endParaRPr b="1"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n" sz="500" u="none" cap="none" strike="noStrike">
                <a:solidFill>
                  <a:srgbClr val="000000"/>
                </a:solidFill>
                <a:latin typeface="Arial"/>
                <a:ea typeface="Arial"/>
                <a:cs typeface="Arial"/>
                <a:sym typeface="Arial"/>
              </a:rPr>
              <a:t>Solution</a:t>
            </a:r>
            <a:endParaRPr b="1" i="0" sz="500" u="none" cap="none" strike="noStrike">
              <a:solidFill>
                <a:srgbClr val="000000"/>
              </a:solidFill>
              <a:latin typeface="Arial"/>
              <a:ea typeface="Arial"/>
              <a:cs typeface="Arial"/>
              <a:sym typeface="Arial"/>
            </a:endParaRPr>
          </a:p>
        </p:txBody>
      </p:sp>
      <p:sp>
        <p:nvSpPr>
          <p:cNvPr id="49" name="Google Shape;49;p4"/>
          <p:cNvSpPr/>
          <p:nvPr/>
        </p:nvSpPr>
        <p:spPr>
          <a:xfrm>
            <a:off x="2691850" y="2811438"/>
            <a:ext cx="928500" cy="7617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500" u="none" cap="none" strike="noStrike">
                <a:solidFill>
                  <a:schemeClr val="dk1"/>
                </a:solidFill>
                <a:latin typeface="Arial"/>
                <a:ea typeface="Arial"/>
                <a:cs typeface="Arial"/>
                <a:sym typeface="Arial"/>
              </a:rPr>
              <a:t>EdPuzzle Interactive video w/ questions</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1" i="0" lang="en" sz="500" u="none" cap="none" strike="noStrike">
                <a:solidFill>
                  <a:schemeClr val="dk1"/>
                </a:solidFill>
                <a:latin typeface="Arial"/>
                <a:ea typeface="Arial"/>
                <a:cs typeface="Arial"/>
                <a:sym typeface="Arial"/>
              </a:rPr>
              <a:t>Inactivation of Samples</a:t>
            </a:r>
            <a:endParaRPr b="1"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p:txBody>
      </p:sp>
      <p:sp>
        <p:nvSpPr>
          <p:cNvPr id="50" name="Google Shape;50;p4"/>
          <p:cNvSpPr/>
          <p:nvPr/>
        </p:nvSpPr>
        <p:spPr>
          <a:xfrm>
            <a:off x="3425113" y="2811438"/>
            <a:ext cx="928500" cy="7617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Arial"/>
                <a:ea typeface="Arial"/>
                <a:cs typeface="Arial"/>
                <a:sym typeface="Arial"/>
              </a:rPr>
              <a:t>EdPuzzle Interactive video w/ questions</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n" sz="500" u="none" cap="none" strike="noStrike">
                <a:solidFill>
                  <a:schemeClr val="dk1"/>
                </a:solidFill>
                <a:latin typeface="Arial"/>
                <a:ea typeface="Arial"/>
                <a:cs typeface="Arial"/>
                <a:sym typeface="Arial"/>
              </a:rPr>
              <a:t>Amplification</a:t>
            </a:r>
            <a:endParaRPr b="1"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n" sz="500" u="none" cap="none" strike="noStrike">
                <a:solidFill>
                  <a:schemeClr val="dk1"/>
                </a:solidFill>
                <a:latin typeface="Arial"/>
                <a:ea typeface="Arial"/>
                <a:cs typeface="Arial"/>
                <a:sym typeface="Arial"/>
              </a:rPr>
              <a:t> Run</a:t>
            </a:r>
            <a:endParaRPr b="1"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p:txBody>
      </p:sp>
      <p:cxnSp>
        <p:nvCxnSpPr>
          <p:cNvPr id="51" name="Google Shape;51;p4"/>
          <p:cNvCxnSpPr>
            <a:stCxn id="37" idx="2"/>
            <a:endCxn id="46" idx="0"/>
          </p:cNvCxnSpPr>
          <p:nvPr/>
        </p:nvCxnSpPr>
        <p:spPr>
          <a:xfrm flipH="1" rot="-5400000">
            <a:off x="8156375" y="2919002"/>
            <a:ext cx="233100" cy="221400"/>
          </a:xfrm>
          <a:prstGeom prst="curvedConnector3">
            <a:avLst>
              <a:gd fmla="val 50029" name="adj1"/>
            </a:avLst>
          </a:prstGeom>
          <a:noFill/>
          <a:ln cap="flat" cmpd="sng" w="9525">
            <a:solidFill>
              <a:schemeClr val="dk2"/>
            </a:solidFill>
            <a:prstDash val="solid"/>
            <a:round/>
            <a:headEnd len="sm" w="sm" type="none"/>
            <a:tailEnd len="sm" w="sm" type="none"/>
          </a:ln>
        </p:spPr>
      </p:cxnSp>
      <p:sp>
        <p:nvSpPr>
          <p:cNvPr id="52" name="Google Shape;52;p4"/>
          <p:cNvSpPr/>
          <p:nvPr/>
        </p:nvSpPr>
        <p:spPr>
          <a:xfrm>
            <a:off x="4194250" y="2807800"/>
            <a:ext cx="971700" cy="7617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Arial"/>
                <a:ea typeface="Arial"/>
                <a:cs typeface="Arial"/>
                <a:sym typeface="Arial"/>
              </a:rPr>
              <a:t>EdPuzzle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Arial"/>
                <a:ea typeface="Arial"/>
                <a:cs typeface="Arial"/>
                <a:sym typeface="Arial"/>
              </a:rPr>
              <a:t>Interactive </a:t>
            </a:r>
            <a:r>
              <a:rPr b="0" i="0" lang="en" sz="500" u="sng" cap="none" strike="noStrike">
                <a:solidFill>
                  <a:schemeClr val="dk1"/>
                </a:solidFill>
                <a:latin typeface="Arial"/>
                <a:ea typeface="Arial"/>
                <a:cs typeface="Arial"/>
                <a:sym typeface="Arial"/>
              </a:rPr>
              <a:t>screencast </a:t>
            </a:r>
            <a:r>
              <a:rPr b="0" i="0" lang="en" sz="500" u="none" cap="none" strike="noStrike">
                <a:solidFill>
                  <a:schemeClr val="dk1"/>
                </a:solidFill>
                <a:latin typeface="Arial"/>
                <a:ea typeface="Arial"/>
                <a:cs typeface="Arial"/>
                <a:sym typeface="Arial"/>
              </a:rPr>
              <a:t>w/ questions</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n" sz="500" u="none" cap="none" strike="noStrike">
                <a:solidFill>
                  <a:schemeClr val="dk1"/>
                </a:solidFill>
                <a:latin typeface="Arial"/>
                <a:ea typeface="Arial"/>
                <a:cs typeface="Arial"/>
                <a:sym typeface="Arial"/>
              </a:rPr>
              <a:t>Review Amp Run </a:t>
            </a:r>
            <a:r>
              <a:rPr b="1" i="0" lang="en" sz="500" u="sng" cap="none" strike="noStrike">
                <a:solidFill>
                  <a:schemeClr val="dk1"/>
                </a:solidFill>
                <a:latin typeface="Arial"/>
                <a:ea typeface="Arial"/>
                <a:cs typeface="Arial"/>
                <a:sym typeface="Arial"/>
              </a:rPr>
              <a:t>Sheet</a:t>
            </a:r>
            <a:endParaRPr b="1" i="0" sz="500" u="sng"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p:txBody>
      </p:sp>
      <p:cxnSp>
        <p:nvCxnSpPr>
          <p:cNvPr id="53" name="Google Shape;53;p4"/>
          <p:cNvCxnSpPr>
            <a:stCxn id="46" idx="2"/>
            <a:endCxn id="42" idx="5"/>
          </p:cNvCxnSpPr>
          <p:nvPr/>
        </p:nvCxnSpPr>
        <p:spPr>
          <a:xfrm flipH="1" rot="-5400000">
            <a:off x="8297079" y="3433188"/>
            <a:ext cx="176700" cy="3900"/>
          </a:xfrm>
          <a:prstGeom prst="curvedConnector3">
            <a:avLst>
              <a:gd fmla="val 49961" name="adj1"/>
            </a:avLst>
          </a:prstGeom>
          <a:noFill/>
          <a:ln cap="flat" cmpd="sng" w="9525">
            <a:solidFill>
              <a:schemeClr val="dk2"/>
            </a:solidFill>
            <a:prstDash val="solid"/>
            <a:round/>
            <a:headEnd len="sm" w="sm" type="none"/>
            <a:tailEnd len="med" w="med" type="triangle"/>
          </a:ln>
        </p:spPr>
      </p:cxnSp>
      <p:cxnSp>
        <p:nvCxnSpPr>
          <p:cNvPr id="54" name="Google Shape;54;p4"/>
          <p:cNvCxnSpPr>
            <a:stCxn id="32" idx="2"/>
            <a:endCxn id="45" idx="1"/>
          </p:cNvCxnSpPr>
          <p:nvPr/>
        </p:nvCxnSpPr>
        <p:spPr>
          <a:xfrm flipH="1" rot="-5400000">
            <a:off x="6879400" y="3392950"/>
            <a:ext cx="152100" cy="456600"/>
          </a:xfrm>
          <a:prstGeom prst="curvedConnector2">
            <a:avLst/>
          </a:prstGeom>
          <a:noFill/>
          <a:ln cap="flat" cmpd="sng" w="9525">
            <a:solidFill>
              <a:schemeClr val="dk2"/>
            </a:solidFill>
            <a:prstDash val="solid"/>
            <a:round/>
            <a:headEnd len="med" w="med" type="triangle"/>
            <a:tailEnd len="sm" w="sm" type="none"/>
          </a:ln>
        </p:spPr>
      </p:cxnSp>
      <p:cxnSp>
        <p:nvCxnSpPr>
          <p:cNvPr id="55" name="Google Shape;55;p4"/>
          <p:cNvCxnSpPr>
            <a:stCxn id="27" idx="2"/>
            <a:endCxn id="24" idx="3"/>
          </p:cNvCxnSpPr>
          <p:nvPr/>
        </p:nvCxnSpPr>
        <p:spPr>
          <a:xfrm rot="5400000">
            <a:off x="4292875" y="3253026"/>
            <a:ext cx="703500" cy="1884300"/>
          </a:xfrm>
          <a:prstGeom prst="curvedConnector2">
            <a:avLst/>
          </a:prstGeom>
          <a:noFill/>
          <a:ln cap="flat" cmpd="sng" w="9525">
            <a:solidFill>
              <a:schemeClr val="dk2"/>
            </a:solidFill>
            <a:prstDash val="solid"/>
            <a:round/>
            <a:headEnd len="sm" w="sm" type="none"/>
            <a:tailEnd len="sm" w="sm" type="none"/>
          </a:ln>
        </p:spPr>
      </p:cxnSp>
      <p:cxnSp>
        <p:nvCxnSpPr>
          <p:cNvPr id="56" name="Google Shape;56;p4"/>
          <p:cNvCxnSpPr>
            <a:stCxn id="52" idx="3"/>
            <a:endCxn id="26" idx="1"/>
          </p:cNvCxnSpPr>
          <p:nvPr/>
        </p:nvCxnSpPr>
        <p:spPr>
          <a:xfrm rot="10800000">
            <a:off x="5138650" y="2147650"/>
            <a:ext cx="27300" cy="1041000"/>
          </a:xfrm>
          <a:prstGeom prst="curvedConnector5">
            <a:avLst>
              <a:gd fmla="val -872253" name="adj1"/>
              <a:gd fmla="val 51997" name="adj2"/>
              <a:gd fmla="val 971704" name="adj3"/>
            </a:avLst>
          </a:prstGeom>
          <a:noFill/>
          <a:ln cap="flat" cmpd="sng" w="9525">
            <a:solidFill>
              <a:schemeClr val="dk2"/>
            </a:solidFill>
            <a:prstDash val="solid"/>
            <a:round/>
            <a:headEnd len="sm" w="sm" type="none"/>
            <a:tailEnd len="med" w="med" type="triangle"/>
          </a:ln>
        </p:spPr>
      </p:cxnSp>
      <p:cxnSp>
        <p:nvCxnSpPr>
          <p:cNvPr id="57" name="Google Shape;57;p4"/>
          <p:cNvCxnSpPr>
            <a:stCxn id="34" idx="2"/>
            <a:endCxn id="32" idx="1"/>
          </p:cNvCxnSpPr>
          <p:nvPr/>
        </p:nvCxnSpPr>
        <p:spPr>
          <a:xfrm flipH="1" rot="-5400000">
            <a:off x="6049100" y="2819038"/>
            <a:ext cx="414900" cy="239700"/>
          </a:xfrm>
          <a:prstGeom prst="curvedConnector2">
            <a:avLst/>
          </a:prstGeom>
          <a:noFill/>
          <a:ln cap="flat" cmpd="sng" w="9525">
            <a:solidFill>
              <a:schemeClr val="dk2"/>
            </a:solidFill>
            <a:prstDash val="solid"/>
            <a:round/>
            <a:headEnd len="sm" w="sm" type="none"/>
            <a:tailEnd len="med" w="med" type="triangle"/>
          </a:ln>
        </p:spPr>
      </p:cxnSp>
      <p:sp>
        <p:nvSpPr>
          <p:cNvPr id="58" name="Google Shape;58;p4"/>
          <p:cNvSpPr txBox="1"/>
          <p:nvPr/>
        </p:nvSpPr>
        <p:spPr>
          <a:xfrm>
            <a:off x="3336925" y="979325"/>
            <a:ext cx="34500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Enrollment, completion, activity, etc data collection</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5"/>
          <p:cNvSpPr/>
          <p:nvPr/>
        </p:nvSpPr>
        <p:spPr>
          <a:xfrm rot="5400000">
            <a:off x="3493675" y="-964550"/>
            <a:ext cx="3136500" cy="7624500"/>
          </a:xfrm>
          <a:prstGeom prst="bracePair">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5"/>
          <p:cNvSpPr/>
          <p:nvPr/>
        </p:nvSpPr>
        <p:spPr>
          <a:xfrm>
            <a:off x="5785864" y="2130595"/>
            <a:ext cx="315000" cy="307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
          <p:cNvSpPr/>
          <p:nvPr/>
        </p:nvSpPr>
        <p:spPr>
          <a:xfrm>
            <a:off x="192150" y="2872150"/>
            <a:ext cx="638400" cy="633000"/>
          </a:xfrm>
          <a:prstGeom prst="ellipse">
            <a:avLst/>
          </a:prstGeom>
          <a:solidFill>
            <a:schemeClr val="lt2"/>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Learner logs into Moodle</a:t>
            </a:r>
            <a:endParaRPr b="0" i="0" sz="600" u="none" cap="none" strike="noStrike">
              <a:solidFill>
                <a:srgbClr val="000000"/>
              </a:solidFill>
              <a:latin typeface="Arial"/>
              <a:ea typeface="Arial"/>
              <a:cs typeface="Arial"/>
              <a:sym typeface="Arial"/>
            </a:endParaRPr>
          </a:p>
        </p:txBody>
      </p:sp>
      <p:sp>
        <p:nvSpPr>
          <p:cNvPr id="66" name="Google Shape;66;p5"/>
          <p:cNvSpPr/>
          <p:nvPr/>
        </p:nvSpPr>
        <p:spPr>
          <a:xfrm>
            <a:off x="47050" y="889475"/>
            <a:ext cx="928600" cy="602150"/>
          </a:xfrm>
          <a:prstGeom prst="flowChartPreparation">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000000"/>
                </a:solidFill>
                <a:latin typeface="Arial"/>
                <a:ea typeface="Arial"/>
                <a:cs typeface="Arial"/>
                <a:sym typeface="Arial"/>
              </a:rPr>
              <a:t>Send learner link to self-enroll</a:t>
            </a:r>
            <a:endParaRPr b="1" i="0" sz="600" u="none" cap="none" strike="noStrike">
              <a:solidFill>
                <a:srgbClr val="000000"/>
              </a:solidFill>
              <a:latin typeface="Arial"/>
              <a:ea typeface="Arial"/>
              <a:cs typeface="Arial"/>
              <a:sym typeface="Arial"/>
            </a:endParaRPr>
          </a:p>
        </p:txBody>
      </p:sp>
      <p:cxnSp>
        <p:nvCxnSpPr>
          <p:cNvPr id="67" name="Google Shape;67;p5"/>
          <p:cNvCxnSpPr>
            <a:stCxn id="66" idx="2"/>
            <a:endCxn id="65" idx="0"/>
          </p:cNvCxnSpPr>
          <p:nvPr/>
        </p:nvCxnSpPr>
        <p:spPr>
          <a:xfrm>
            <a:off x="511350" y="1491625"/>
            <a:ext cx="0" cy="1380600"/>
          </a:xfrm>
          <a:prstGeom prst="straightConnector1">
            <a:avLst/>
          </a:prstGeom>
          <a:noFill/>
          <a:ln cap="flat" cmpd="sng" w="9525">
            <a:solidFill>
              <a:schemeClr val="dk2"/>
            </a:solidFill>
            <a:prstDash val="solid"/>
            <a:round/>
            <a:headEnd len="sm" w="sm" type="none"/>
            <a:tailEnd len="med" w="med" type="triangle"/>
          </a:ln>
        </p:spPr>
      </p:cxnSp>
      <p:sp>
        <p:nvSpPr>
          <p:cNvPr id="68" name="Google Shape;68;p5"/>
          <p:cNvSpPr/>
          <p:nvPr/>
        </p:nvSpPr>
        <p:spPr>
          <a:xfrm>
            <a:off x="4063688" y="4287649"/>
            <a:ext cx="544025" cy="333600"/>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Review Selected Videos</a:t>
            </a:r>
            <a:endParaRPr b="0" i="0" sz="600" u="none" cap="none" strike="noStrike">
              <a:solidFill>
                <a:srgbClr val="000000"/>
              </a:solidFill>
              <a:latin typeface="Arial"/>
              <a:ea typeface="Arial"/>
              <a:cs typeface="Arial"/>
              <a:sym typeface="Arial"/>
            </a:endParaRPr>
          </a:p>
        </p:txBody>
      </p:sp>
      <p:cxnSp>
        <p:nvCxnSpPr>
          <p:cNvPr id="69" name="Google Shape;69;p5"/>
          <p:cNvCxnSpPr>
            <a:stCxn id="70" idx="3"/>
            <a:endCxn id="71" idx="0"/>
          </p:cNvCxnSpPr>
          <p:nvPr/>
        </p:nvCxnSpPr>
        <p:spPr>
          <a:xfrm>
            <a:off x="3668904" y="2047464"/>
            <a:ext cx="1816200" cy="1628100"/>
          </a:xfrm>
          <a:prstGeom prst="curvedConnector2">
            <a:avLst/>
          </a:prstGeom>
          <a:noFill/>
          <a:ln cap="flat" cmpd="sng" w="9525">
            <a:solidFill>
              <a:schemeClr val="dk2"/>
            </a:solidFill>
            <a:prstDash val="dot"/>
            <a:round/>
            <a:headEnd len="sm" w="sm" type="none"/>
            <a:tailEnd len="sm" w="sm" type="none"/>
          </a:ln>
        </p:spPr>
      </p:cxnSp>
      <p:sp>
        <p:nvSpPr>
          <p:cNvPr id="71" name="Google Shape;71;p5"/>
          <p:cNvSpPr/>
          <p:nvPr/>
        </p:nvSpPr>
        <p:spPr>
          <a:xfrm>
            <a:off x="5292725" y="3675426"/>
            <a:ext cx="384600" cy="200400"/>
          </a:xfrm>
          <a:prstGeom prst="flowChartAlternateProcess">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Fail</a:t>
            </a:r>
            <a:endParaRPr b="0" i="0" sz="600" u="none" cap="none" strike="noStrike">
              <a:solidFill>
                <a:srgbClr val="000000"/>
              </a:solidFill>
              <a:latin typeface="Arial"/>
              <a:ea typeface="Arial"/>
              <a:cs typeface="Arial"/>
              <a:sym typeface="Arial"/>
            </a:endParaRPr>
          </a:p>
        </p:txBody>
      </p:sp>
      <p:cxnSp>
        <p:nvCxnSpPr>
          <p:cNvPr id="72" name="Google Shape;72;p5"/>
          <p:cNvCxnSpPr>
            <a:stCxn id="65" idx="6"/>
            <a:endCxn id="73" idx="1"/>
          </p:cNvCxnSpPr>
          <p:nvPr/>
        </p:nvCxnSpPr>
        <p:spPr>
          <a:xfrm>
            <a:off x="830550" y="3188650"/>
            <a:ext cx="290100" cy="0"/>
          </a:xfrm>
          <a:prstGeom prst="straightConnector1">
            <a:avLst/>
          </a:prstGeom>
          <a:noFill/>
          <a:ln cap="flat" cmpd="sng" w="9525">
            <a:solidFill>
              <a:schemeClr val="dk2"/>
            </a:solidFill>
            <a:prstDash val="solid"/>
            <a:round/>
            <a:headEnd len="sm" w="sm" type="none"/>
            <a:tailEnd len="med" w="med" type="triangle"/>
          </a:ln>
        </p:spPr>
      </p:cxnSp>
      <p:sp>
        <p:nvSpPr>
          <p:cNvPr id="74" name="Google Shape;74;p5"/>
          <p:cNvSpPr txBox="1"/>
          <p:nvPr/>
        </p:nvSpPr>
        <p:spPr>
          <a:xfrm>
            <a:off x="4256728" y="760625"/>
            <a:ext cx="16104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Moodle Course</a:t>
            </a:r>
            <a:endParaRPr b="0" i="0" sz="1400" u="none" cap="none" strike="noStrike">
              <a:solidFill>
                <a:srgbClr val="000000"/>
              </a:solidFill>
              <a:latin typeface="Arial"/>
              <a:ea typeface="Arial"/>
              <a:cs typeface="Arial"/>
              <a:sym typeface="Arial"/>
            </a:endParaRPr>
          </a:p>
        </p:txBody>
      </p:sp>
      <p:cxnSp>
        <p:nvCxnSpPr>
          <p:cNvPr id="75" name="Google Shape;75;p5"/>
          <p:cNvCxnSpPr>
            <a:stCxn id="68" idx="1"/>
          </p:cNvCxnSpPr>
          <p:nvPr/>
        </p:nvCxnSpPr>
        <p:spPr>
          <a:xfrm rot="10800000">
            <a:off x="3413288" y="3914749"/>
            <a:ext cx="650400" cy="539700"/>
          </a:xfrm>
          <a:prstGeom prst="curvedConnector3">
            <a:avLst>
              <a:gd fmla="val 50000" name="adj1"/>
            </a:avLst>
          </a:prstGeom>
          <a:noFill/>
          <a:ln cap="flat" cmpd="sng" w="9525">
            <a:solidFill>
              <a:schemeClr val="dk2"/>
            </a:solidFill>
            <a:prstDash val="dot"/>
            <a:round/>
            <a:headEnd len="sm" w="sm" type="none"/>
            <a:tailEnd len="med" w="med" type="triangle"/>
          </a:ln>
        </p:spPr>
      </p:cxnSp>
      <p:sp>
        <p:nvSpPr>
          <p:cNvPr id="76" name="Google Shape;76;p5"/>
          <p:cNvSpPr/>
          <p:nvPr/>
        </p:nvSpPr>
        <p:spPr>
          <a:xfrm>
            <a:off x="6376450" y="2747500"/>
            <a:ext cx="701400" cy="797700"/>
          </a:xfrm>
          <a:prstGeom prst="frame">
            <a:avLst>
              <a:gd fmla="val 1250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rgbClr val="000000"/>
                </a:solidFill>
                <a:latin typeface="Arial"/>
                <a:ea typeface="Arial"/>
                <a:cs typeface="Arial"/>
                <a:sym typeface="Arial"/>
              </a:rPr>
              <a:t>Submit self recorded full run to Moodle Assignment</a:t>
            </a:r>
            <a:endParaRPr b="0" i="0" sz="500" u="none" cap="none" strike="noStrike">
              <a:solidFill>
                <a:srgbClr val="000000"/>
              </a:solidFill>
              <a:latin typeface="Arial"/>
              <a:ea typeface="Arial"/>
              <a:cs typeface="Arial"/>
              <a:sym typeface="Arial"/>
            </a:endParaRPr>
          </a:p>
        </p:txBody>
      </p:sp>
      <p:cxnSp>
        <p:nvCxnSpPr>
          <p:cNvPr id="77" name="Google Shape;77;p5"/>
          <p:cNvCxnSpPr>
            <a:stCxn id="70" idx="3"/>
            <a:endCxn id="78" idx="0"/>
          </p:cNvCxnSpPr>
          <p:nvPr/>
        </p:nvCxnSpPr>
        <p:spPr>
          <a:xfrm flipH="1" rot="10800000">
            <a:off x="3668904" y="1821864"/>
            <a:ext cx="687000" cy="225600"/>
          </a:xfrm>
          <a:prstGeom prst="curvedConnector4">
            <a:avLst>
              <a:gd fmla="val 36010" name="adj1"/>
              <a:gd fmla="val 205597" name="adj2"/>
            </a:avLst>
          </a:prstGeom>
          <a:noFill/>
          <a:ln cap="flat" cmpd="sng" w="9525">
            <a:solidFill>
              <a:schemeClr val="dk2"/>
            </a:solidFill>
            <a:prstDash val="solid"/>
            <a:round/>
            <a:headEnd len="sm" w="sm" type="none"/>
            <a:tailEnd len="sm" w="sm" type="none"/>
          </a:ln>
        </p:spPr>
      </p:cxnSp>
      <p:cxnSp>
        <p:nvCxnSpPr>
          <p:cNvPr id="79" name="Google Shape;79;p5"/>
          <p:cNvCxnSpPr>
            <a:stCxn id="76" idx="3"/>
            <a:endCxn id="80" idx="1"/>
          </p:cNvCxnSpPr>
          <p:nvPr/>
        </p:nvCxnSpPr>
        <p:spPr>
          <a:xfrm rot="10800000">
            <a:off x="6958150" y="1838350"/>
            <a:ext cx="119700" cy="1308000"/>
          </a:xfrm>
          <a:prstGeom prst="curvedConnector5">
            <a:avLst>
              <a:gd fmla="val -198935" name="adj1"/>
              <a:gd fmla="val 56752" name="adj2"/>
              <a:gd fmla="val 386195" name="adj3"/>
            </a:avLst>
          </a:prstGeom>
          <a:noFill/>
          <a:ln cap="flat" cmpd="sng" w="9525">
            <a:solidFill>
              <a:schemeClr val="dk2"/>
            </a:solidFill>
            <a:prstDash val="solid"/>
            <a:round/>
            <a:headEnd len="sm" w="sm" type="none"/>
            <a:tailEnd len="med" w="med" type="triangle"/>
          </a:ln>
        </p:spPr>
      </p:cxnSp>
      <p:sp>
        <p:nvSpPr>
          <p:cNvPr id="80" name="Google Shape;80;p5"/>
          <p:cNvSpPr/>
          <p:nvPr/>
        </p:nvSpPr>
        <p:spPr>
          <a:xfrm>
            <a:off x="6853800" y="1615900"/>
            <a:ext cx="1044650" cy="444750"/>
          </a:xfrm>
          <a:prstGeom prst="flowChartManualOpe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FloodLAMP Staff reviews video</a:t>
            </a:r>
            <a:endParaRPr b="0" i="0" sz="600" u="none" cap="none" strike="noStrike">
              <a:solidFill>
                <a:srgbClr val="000000"/>
              </a:solidFill>
              <a:latin typeface="Arial"/>
              <a:ea typeface="Arial"/>
              <a:cs typeface="Arial"/>
              <a:sym typeface="Arial"/>
            </a:endParaRPr>
          </a:p>
        </p:txBody>
      </p:sp>
      <p:sp>
        <p:nvSpPr>
          <p:cNvPr id="81" name="Google Shape;81;p5"/>
          <p:cNvSpPr/>
          <p:nvPr/>
        </p:nvSpPr>
        <p:spPr>
          <a:xfrm>
            <a:off x="7863750" y="2071652"/>
            <a:ext cx="596950" cy="841500"/>
          </a:xfrm>
          <a:prstGeom prst="flowChartOffpage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FloodLAMP Staff submits checklist on review of video</a:t>
            </a:r>
            <a:endParaRPr b="0" i="0" sz="600" u="none" cap="none" strike="noStrike">
              <a:solidFill>
                <a:srgbClr val="000000"/>
              </a:solidFill>
              <a:latin typeface="Arial"/>
              <a:ea typeface="Arial"/>
              <a:cs typeface="Arial"/>
              <a:sym typeface="Arial"/>
            </a:endParaRPr>
          </a:p>
        </p:txBody>
      </p:sp>
      <p:cxnSp>
        <p:nvCxnSpPr>
          <p:cNvPr id="82" name="Google Shape;82;p5"/>
          <p:cNvCxnSpPr>
            <a:stCxn id="81" idx="0"/>
            <a:endCxn id="80" idx="3"/>
          </p:cNvCxnSpPr>
          <p:nvPr/>
        </p:nvCxnSpPr>
        <p:spPr>
          <a:xfrm flipH="1" rot="5400000">
            <a:off x="7861475" y="1770902"/>
            <a:ext cx="233400" cy="368100"/>
          </a:xfrm>
          <a:prstGeom prst="curvedConnector2">
            <a:avLst/>
          </a:prstGeom>
          <a:noFill/>
          <a:ln cap="flat" cmpd="sng" w="9525">
            <a:solidFill>
              <a:schemeClr val="dk2"/>
            </a:solidFill>
            <a:prstDash val="solid"/>
            <a:round/>
            <a:headEnd len="med" w="med" type="triangle"/>
            <a:tailEnd len="sm" w="sm" type="none"/>
          </a:ln>
        </p:spPr>
      </p:cxnSp>
      <p:grpSp>
        <p:nvGrpSpPr>
          <p:cNvPr id="83" name="Google Shape;83;p5"/>
          <p:cNvGrpSpPr/>
          <p:nvPr/>
        </p:nvGrpSpPr>
        <p:grpSpPr>
          <a:xfrm>
            <a:off x="2203891" y="1708199"/>
            <a:ext cx="681200" cy="678528"/>
            <a:chOff x="6174500" y="2000384"/>
            <a:chExt cx="681200" cy="678325"/>
          </a:xfrm>
        </p:grpSpPr>
        <p:sp>
          <p:nvSpPr>
            <p:cNvPr id="84" name="Google Shape;84;p5"/>
            <p:cNvSpPr/>
            <p:nvPr/>
          </p:nvSpPr>
          <p:spPr>
            <a:xfrm>
              <a:off x="6174500" y="2000384"/>
              <a:ext cx="681200" cy="678325"/>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85" name="Google Shape;85;p5"/>
            <p:cNvSpPr txBox="1"/>
            <p:nvPr/>
          </p:nvSpPr>
          <p:spPr>
            <a:xfrm>
              <a:off x="6304258" y="2003288"/>
              <a:ext cx="435300" cy="646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Take Moodle Quiz</a:t>
              </a:r>
              <a:endParaRPr b="0" i="0" sz="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(closed book)</a:t>
              </a:r>
              <a:endParaRPr b="0" i="0" sz="600" u="none" cap="none" strike="noStrike">
                <a:solidFill>
                  <a:schemeClr val="dk1"/>
                </a:solidFill>
                <a:latin typeface="Arial"/>
                <a:ea typeface="Arial"/>
                <a:cs typeface="Arial"/>
                <a:sym typeface="Arial"/>
              </a:endParaRPr>
            </a:p>
          </p:txBody>
        </p:sp>
      </p:grpSp>
      <p:sp>
        <p:nvSpPr>
          <p:cNvPr id="78" name="Google Shape;78;p5"/>
          <p:cNvSpPr/>
          <p:nvPr/>
        </p:nvSpPr>
        <p:spPr>
          <a:xfrm>
            <a:off x="4163675" y="1821763"/>
            <a:ext cx="384600" cy="200400"/>
          </a:xfrm>
          <a:prstGeom prst="flowChartAlternateProcess">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Pass</a:t>
            </a:r>
            <a:endParaRPr b="0" i="0" sz="600" u="none" cap="none" strike="noStrike">
              <a:solidFill>
                <a:srgbClr val="000000"/>
              </a:solidFill>
              <a:latin typeface="Arial"/>
              <a:ea typeface="Arial"/>
              <a:cs typeface="Arial"/>
              <a:sym typeface="Arial"/>
            </a:endParaRPr>
          </a:p>
        </p:txBody>
      </p:sp>
      <p:grpSp>
        <p:nvGrpSpPr>
          <p:cNvPr id="86" name="Google Shape;86;p5"/>
          <p:cNvGrpSpPr/>
          <p:nvPr/>
        </p:nvGrpSpPr>
        <p:grpSpPr>
          <a:xfrm>
            <a:off x="7997235" y="3523350"/>
            <a:ext cx="772500" cy="602100"/>
            <a:chOff x="8171360" y="2927525"/>
            <a:chExt cx="772500" cy="602100"/>
          </a:xfrm>
        </p:grpSpPr>
        <p:sp>
          <p:nvSpPr>
            <p:cNvPr id="87" name="Google Shape;87;p5"/>
            <p:cNvSpPr/>
            <p:nvPr/>
          </p:nvSpPr>
          <p:spPr>
            <a:xfrm>
              <a:off x="8200300" y="2927525"/>
              <a:ext cx="722700" cy="602100"/>
            </a:xfrm>
            <a:prstGeom prst="star6">
              <a:avLst>
                <a:gd fmla="val 28868" name="adj"/>
                <a:gd fmla="val 115470" name="hf"/>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88" name="Google Shape;88;p5"/>
            <p:cNvSpPr txBox="1"/>
            <p:nvPr/>
          </p:nvSpPr>
          <p:spPr>
            <a:xfrm>
              <a:off x="8171360" y="3082325"/>
              <a:ext cx="772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chemeClr val="dk1"/>
                  </a:solidFill>
                  <a:latin typeface="Arial"/>
                  <a:ea typeface="Arial"/>
                  <a:cs typeface="Arial"/>
                  <a:sym typeface="Arial"/>
                </a:rPr>
                <a:t>Certificate</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chemeClr val="dk1"/>
                  </a:solidFill>
                  <a:latin typeface="Arial"/>
                  <a:ea typeface="Arial"/>
                  <a:cs typeface="Arial"/>
                  <a:sym typeface="Arial"/>
                </a:rPr>
                <a:t>!!!</a:t>
              </a:r>
              <a:endParaRPr b="0" i="0" sz="700" u="none" cap="none" strike="noStrike">
                <a:solidFill>
                  <a:schemeClr val="dk1"/>
                </a:solidFill>
                <a:latin typeface="Arial"/>
                <a:ea typeface="Arial"/>
                <a:cs typeface="Arial"/>
                <a:sym typeface="Arial"/>
              </a:endParaRPr>
            </a:p>
          </p:txBody>
        </p:sp>
      </p:grpSp>
      <p:cxnSp>
        <p:nvCxnSpPr>
          <p:cNvPr id="89" name="Google Shape;89;p5"/>
          <p:cNvCxnSpPr>
            <a:stCxn id="90" idx="3"/>
            <a:endCxn id="81" idx="2"/>
          </p:cNvCxnSpPr>
          <p:nvPr/>
        </p:nvCxnSpPr>
        <p:spPr>
          <a:xfrm flipH="1" rot="10800000">
            <a:off x="7898450" y="2913301"/>
            <a:ext cx="263700" cy="333300"/>
          </a:xfrm>
          <a:prstGeom prst="curvedConnector2">
            <a:avLst/>
          </a:prstGeom>
          <a:noFill/>
          <a:ln cap="flat" cmpd="sng" w="9525">
            <a:solidFill>
              <a:schemeClr val="dk2"/>
            </a:solidFill>
            <a:prstDash val="dot"/>
            <a:round/>
            <a:headEnd len="sm" w="sm" type="none"/>
            <a:tailEnd len="sm" w="sm" type="none"/>
          </a:ln>
        </p:spPr>
      </p:cxnSp>
      <p:sp>
        <p:nvSpPr>
          <p:cNvPr id="90" name="Google Shape;90;p5"/>
          <p:cNvSpPr/>
          <p:nvPr/>
        </p:nvSpPr>
        <p:spPr>
          <a:xfrm>
            <a:off x="7513850" y="3146401"/>
            <a:ext cx="384600" cy="200400"/>
          </a:xfrm>
          <a:prstGeom prst="flowChartAlternateProcess">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Fail</a:t>
            </a:r>
            <a:endParaRPr b="0" i="0" sz="600" u="none" cap="none" strike="noStrike">
              <a:solidFill>
                <a:srgbClr val="000000"/>
              </a:solidFill>
              <a:latin typeface="Arial"/>
              <a:ea typeface="Arial"/>
              <a:cs typeface="Arial"/>
              <a:sym typeface="Arial"/>
            </a:endParaRPr>
          </a:p>
        </p:txBody>
      </p:sp>
      <p:sp>
        <p:nvSpPr>
          <p:cNvPr id="91" name="Google Shape;91;p5"/>
          <p:cNvSpPr/>
          <p:nvPr/>
        </p:nvSpPr>
        <p:spPr>
          <a:xfrm>
            <a:off x="8191179" y="3146388"/>
            <a:ext cx="384600" cy="200400"/>
          </a:xfrm>
          <a:prstGeom prst="flowChartAlternateProcess">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Pass</a:t>
            </a:r>
            <a:endParaRPr b="0" i="0" sz="600" u="none" cap="none" strike="noStrike">
              <a:solidFill>
                <a:srgbClr val="000000"/>
              </a:solidFill>
              <a:latin typeface="Arial"/>
              <a:ea typeface="Arial"/>
              <a:cs typeface="Arial"/>
              <a:sym typeface="Arial"/>
            </a:endParaRPr>
          </a:p>
        </p:txBody>
      </p:sp>
      <p:sp>
        <p:nvSpPr>
          <p:cNvPr id="92" name="Google Shape;92;p5"/>
          <p:cNvSpPr txBox="1"/>
          <p:nvPr/>
        </p:nvSpPr>
        <p:spPr>
          <a:xfrm>
            <a:off x="6448100" y="2237025"/>
            <a:ext cx="597000" cy="4155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rgbClr val="000000"/>
                </a:solidFill>
                <a:latin typeface="Arial"/>
                <a:ea typeface="Arial"/>
                <a:cs typeface="Arial"/>
                <a:sym typeface="Arial"/>
              </a:rPr>
              <a:t>Triggers FL Staff notification</a:t>
            </a:r>
            <a:endParaRPr b="0" i="0" sz="500" u="none" cap="none" strike="noStrike">
              <a:solidFill>
                <a:srgbClr val="000000"/>
              </a:solidFill>
              <a:latin typeface="Arial"/>
              <a:ea typeface="Arial"/>
              <a:cs typeface="Arial"/>
              <a:sym typeface="Arial"/>
            </a:endParaRPr>
          </a:p>
        </p:txBody>
      </p:sp>
      <p:sp>
        <p:nvSpPr>
          <p:cNvPr id="73" name="Google Shape;73;p5"/>
          <p:cNvSpPr/>
          <p:nvPr/>
        </p:nvSpPr>
        <p:spPr>
          <a:xfrm>
            <a:off x="1120700" y="2807800"/>
            <a:ext cx="928500" cy="7617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rgbClr val="000000"/>
                </a:solidFill>
                <a:latin typeface="Arial"/>
                <a:ea typeface="Arial"/>
                <a:cs typeface="Arial"/>
                <a:sym typeface="Arial"/>
              </a:rPr>
              <a:t>EdPuzzle Interactive video w/ questions</a:t>
            </a:r>
            <a:endParaRPr b="0" i="0" sz="5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n" sz="500" u="none" cap="none" strike="noStrike">
                <a:solidFill>
                  <a:srgbClr val="000000"/>
                </a:solidFill>
                <a:latin typeface="Arial"/>
                <a:ea typeface="Arial"/>
                <a:cs typeface="Arial"/>
                <a:sym typeface="Arial"/>
              </a:rPr>
              <a:t>Create 1X Inactivation Solution</a:t>
            </a:r>
            <a:endParaRPr b="1" i="0" sz="500" u="none" cap="none" strike="noStrike">
              <a:solidFill>
                <a:srgbClr val="000000"/>
              </a:solidFill>
              <a:latin typeface="Arial"/>
              <a:ea typeface="Arial"/>
              <a:cs typeface="Arial"/>
              <a:sym typeface="Arial"/>
            </a:endParaRPr>
          </a:p>
        </p:txBody>
      </p:sp>
      <p:sp>
        <p:nvSpPr>
          <p:cNvPr id="93" name="Google Shape;93;p5"/>
          <p:cNvSpPr/>
          <p:nvPr/>
        </p:nvSpPr>
        <p:spPr>
          <a:xfrm>
            <a:off x="1909363" y="2811450"/>
            <a:ext cx="928500" cy="7617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500" u="none" cap="none" strike="noStrike">
                <a:solidFill>
                  <a:schemeClr val="dk1"/>
                </a:solidFill>
                <a:latin typeface="Arial"/>
                <a:ea typeface="Arial"/>
                <a:cs typeface="Arial"/>
                <a:sym typeface="Arial"/>
              </a:rPr>
              <a:t>EdPuzzle Interactive video w/ questions</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1" i="0" lang="en" sz="500" u="none" cap="none" strike="noStrike">
                <a:solidFill>
                  <a:schemeClr val="dk1"/>
                </a:solidFill>
                <a:latin typeface="Arial"/>
                <a:ea typeface="Arial"/>
                <a:cs typeface="Arial"/>
                <a:sym typeface="Arial"/>
              </a:rPr>
              <a:t>Create Reaction Mix</a:t>
            </a:r>
            <a:endParaRPr b="1"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n" sz="500" u="none" cap="none" strike="noStrike">
                <a:solidFill>
                  <a:srgbClr val="000000"/>
                </a:solidFill>
                <a:latin typeface="Arial"/>
                <a:ea typeface="Arial"/>
                <a:cs typeface="Arial"/>
                <a:sym typeface="Arial"/>
              </a:rPr>
              <a:t>Solution</a:t>
            </a:r>
            <a:endParaRPr b="1" i="0" sz="500" u="none" cap="none" strike="noStrike">
              <a:solidFill>
                <a:srgbClr val="000000"/>
              </a:solidFill>
              <a:latin typeface="Arial"/>
              <a:ea typeface="Arial"/>
              <a:cs typeface="Arial"/>
              <a:sym typeface="Arial"/>
            </a:endParaRPr>
          </a:p>
        </p:txBody>
      </p:sp>
      <p:sp>
        <p:nvSpPr>
          <p:cNvPr id="94" name="Google Shape;94;p5"/>
          <p:cNvSpPr/>
          <p:nvPr/>
        </p:nvSpPr>
        <p:spPr>
          <a:xfrm>
            <a:off x="2691850" y="2811438"/>
            <a:ext cx="928500" cy="7617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500" u="none" cap="none" strike="noStrike">
                <a:solidFill>
                  <a:schemeClr val="dk1"/>
                </a:solidFill>
                <a:latin typeface="Arial"/>
                <a:ea typeface="Arial"/>
                <a:cs typeface="Arial"/>
                <a:sym typeface="Arial"/>
              </a:rPr>
              <a:t>EdPuzzle Interactive video w/ questions</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1" i="0" lang="en" sz="500" u="none" cap="none" strike="noStrike">
                <a:solidFill>
                  <a:schemeClr val="dk1"/>
                </a:solidFill>
                <a:latin typeface="Arial"/>
                <a:ea typeface="Arial"/>
                <a:cs typeface="Arial"/>
                <a:sym typeface="Arial"/>
              </a:rPr>
              <a:t>Inactivation of Samples</a:t>
            </a:r>
            <a:endParaRPr b="1"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p:txBody>
      </p:sp>
      <p:sp>
        <p:nvSpPr>
          <p:cNvPr id="95" name="Google Shape;95;p5"/>
          <p:cNvSpPr/>
          <p:nvPr/>
        </p:nvSpPr>
        <p:spPr>
          <a:xfrm>
            <a:off x="3425113" y="2811438"/>
            <a:ext cx="928500" cy="7617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Arial"/>
                <a:ea typeface="Arial"/>
                <a:cs typeface="Arial"/>
                <a:sym typeface="Arial"/>
              </a:rPr>
              <a:t>EdPuzzle Interactive video w/ questions</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n" sz="500" u="none" cap="none" strike="noStrike">
                <a:solidFill>
                  <a:schemeClr val="dk1"/>
                </a:solidFill>
                <a:latin typeface="Arial"/>
                <a:ea typeface="Arial"/>
                <a:cs typeface="Arial"/>
                <a:sym typeface="Arial"/>
              </a:rPr>
              <a:t>Amplification</a:t>
            </a:r>
            <a:endParaRPr b="1"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n" sz="500" u="none" cap="none" strike="noStrike">
                <a:solidFill>
                  <a:schemeClr val="dk1"/>
                </a:solidFill>
                <a:latin typeface="Arial"/>
                <a:ea typeface="Arial"/>
                <a:cs typeface="Arial"/>
                <a:sym typeface="Arial"/>
              </a:rPr>
              <a:t> Run</a:t>
            </a:r>
            <a:endParaRPr b="1"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p:txBody>
      </p:sp>
      <p:cxnSp>
        <p:nvCxnSpPr>
          <p:cNvPr id="96" name="Google Shape;96;p5"/>
          <p:cNvCxnSpPr>
            <a:stCxn id="81" idx="2"/>
            <a:endCxn id="91" idx="0"/>
          </p:cNvCxnSpPr>
          <p:nvPr/>
        </p:nvCxnSpPr>
        <p:spPr>
          <a:xfrm flipH="1" rot="-5400000">
            <a:off x="8156375" y="2919002"/>
            <a:ext cx="233100" cy="221400"/>
          </a:xfrm>
          <a:prstGeom prst="curvedConnector3">
            <a:avLst>
              <a:gd fmla="val 50029" name="adj1"/>
            </a:avLst>
          </a:prstGeom>
          <a:noFill/>
          <a:ln cap="flat" cmpd="sng" w="9525">
            <a:solidFill>
              <a:schemeClr val="dk2"/>
            </a:solidFill>
            <a:prstDash val="solid"/>
            <a:round/>
            <a:headEnd len="sm" w="sm" type="none"/>
            <a:tailEnd len="sm" w="sm" type="none"/>
          </a:ln>
        </p:spPr>
      </p:cxnSp>
      <p:sp>
        <p:nvSpPr>
          <p:cNvPr id="97" name="Google Shape;97;p5"/>
          <p:cNvSpPr/>
          <p:nvPr/>
        </p:nvSpPr>
        <p:spPr>
          <a:xfrm>
            <a:off x="4194250" y="2807800"/>
            <a:ext cx="971700" cy="7617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Arial"/>
                <a:ea typeface="Arial"/>
                <a:cs typeface="Arial"/>
                <a:sym typeface="Arial"/>
              </a:rPr>
              <a:t>EdPuzzle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Arial"/>
                <a:ea typeface="Arial"/>
                <a:cs typeface="Arial"/>
                <a:sym typeface="Arial"/>
              </a:rPr>
              <a:t>Interactive </a:t>
            </a:r>
            <a:r>
              <a:rPr b="0" i="0" lang="en" sz="500" u="sng" cap="none" strike="noStrike">
                <a:solidFill>
                  <a:schemeClr val="dk1"/>
                </a:solidFill>
                <a:latin typeface="Arial"/>
                <a:ea typeface="Arial"/>
                <a:cs typeface="Arial"/>
                <a:sym typeface="Arial"/>
              </a:rPr>
              <a:t>screencast </a:t>
            </a:r>
            <a:r>
              <a:rPr b="0" i="0" lang="en" sz="500" u="none" cap="none" strike="noStrike">
                <a:solidFill>
                  <a:schemeClr val="dk1"/>
                </a:solidFill>
                <a:latin typeface="Arial"/>
                <a:ea typeface="Arial"/>
                <a:cs typeface="Arial"/>
                <a:sym typeface="Arial"/>
              </a:rPr>
              <a:t>w/ questions</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n" sz="500" u="none" cap="none" strike="noStrike">
                <a:solidFill>
                  <a:schemeClr val="dk1"/>
                </a:solidFill>
                <a:latin typeface="Arial"/>
                <a:ea typeface="Arial"/>
                <a:cs typeface="Arial"/>
                <a:sym typeface="Arial"/>
              </a:rPr>
              <a:t>Review Amp Run </a:t>
            </a:r>
            <a:r>
              <a:rPr b="1" i="0" lang="en" sz="500" u="sng" cap="none" strike="noStrike">
                <a:solidFill>
                  <a:schemeClr val="dk1"/>
                </a:solidFill>
                <a:latin typeface="Arial"/>
                <a:ea typeface="Arial"/>
                <a:cs typeface="Arial"/>
                <a:sym typeface="Arial"/>
              </a:rPr>
              <a:t>Sheet</a:t>
            </a:r>
            <a:endParaRPr b="1" i="0" sz="500" u="sng"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p:txBody>
      </p:sp>
      <p:cxnSp>
        <p:nvCxnSpPr>
          <p:cNvPr id="98" name="Google Shape;98;p5"/>
          <p:cNvCxnSpPr>
            <a:stCxn id="91" idx="2"/>
            <a:endCxn id="87" idx="5"/>
          </p:cNvCxnSpPr>
          <p:nvPr/>
        </p:nvCxnSpPr>
        <p:spPr>
          <a:xfrm flipH="1" rot="-5400000">
            <a:off x="8297079" y="3433188"/>
            <a:ext cx="176700" cy="3900"/>
          </a:xfrm>
          <a:prstGeom prst="curvedConnector3">
            <a:avLst>
              <a:gd fmla="val 49961" name="adj1"/>
            </a:avLst>
          </a:prstGeom>
          <a:noFill/>
          <a:ln cap="flat" cmpd="sng" w="9525">
            <a:solidFill>
              <a:schemeClr val="dk2"/>
            </a:solidFill>
            <a:prstDash val="solid"/>
            <a:round/>
            <a:headEnd len="sm" w="sm" type="none"/>
            <a:tailEnd len="med" w="med" type="triangle"/>
          </a:ln>
        </p:spPr>
      </p:cxnSp>
      <p:cxnSp>
        <p:nvCxnSpPr>
          <p:cNvPr id="99" name="Google Shape;99;p5"/>
          <p:cNvCxnSpPr>
            <a:stCxn id="68" idx="3"/>
          </p:cNvCxnSpPr>
          <p:nvPr/>
        </p:nvCxnSpPr>
        <p:spPr>
          <a:xfrm flipH="1" rot="10800000">
            <a:off x="4607713" y="3183349"/>
            <a:ext cx="3039300" cy="1271100"/>
          </a:xfrm>
          <a:prstGeom prst="curvedConnector3">
            <a:avLst>
              <a:gd fmla="val 79206" name="adj1"/>
            </a:avLst>
          </a:prstGeom>
          <a:noFill/>
          <a:ln cap="flat" cmpd="sng" w="9525">
            <a:solidFill>
              <a:schemeClr val="dk2"/>
            </a:solidFill>
            <a:prstDash val="dot"/>
            <a:round/>
            <a:headEnd len="med" w="med" type="triangle"/>
            <a:tailEnd len="sm" w="sm" type="none"/>
          </a:ln>
        </p:spPr>
      </p:cxnSp>
      <p:cxnSp>
        <p:nvCxnSpPr>
          <p:cNvPr id="100" name="Google Shape;100;p5"/>
          <p:cNvCxnSpPr>
            <a:stCxn id="71" idx="2"/>
            <a:endCxn id="68" idx="3"/>
          </p:cNvCxnSpPr>
          <p:nvPr/>
        </p:nvCxnSpPr>
        <p:spPr>
          <a:xfrm rot="5400000">
            <a:off x="4757075" y="3726576"/>
            <a:ext cx="578700" cy="877200"/>
          </a:xfrm>
          <a:prstGeom prst="curvedConnector2">
            <a:avLst/>
          </a:prstGeom>
          <a:noFill/>
          <a:ln cap="flat" cmpd="sng" w="9525">
            <a:solidFill>
              <a:schemeClr val="dk2"/>
            </a:solidFill>
            <a:prstDash val="dot"/>
            <a:round/>
            <a:headEnd len="sm" w="sm" type="none"/>
            <a:tailEnd len="sm" w="sm" type="none"/>
          </a:ln>
        </p:spPr>
      </p:cxnSp>
      <p:cxnSp>
        <p:nvCxnSpPr>
          <p:cNvPr id="101" name="Google Shape;101;p5"/>
          <p:cNvCxnSpPr>
            <a:endCxn id="102" idx="0"/>
          </p:cNvCxnSpPr>
          <p:nvPr/>
        </p:nvCxnSpPr>
        <p:spPr>
          <a:xfrm flipH="1" rot="-5400000">
            <a:off x="5712674" y="2243834"/>
            <a:ext cx="535500" cy="95400"/>
          </a:xfrm>
          <a:prstGeom prst="curvedConnector3">
            <a:avLst>
              <a:gd fmla="val 50000" name="adj1"/>
            </a:avLst>
          </a:prstGeom>
          <a:noFill/>
          <a:ln cap="flat" cmpd="sng" w="9525">
            <a:solidFill>
              <a:schemeClr val="dk2"/>
            </a:solidFill>
            <a:prstDash val="solid"/>
            <a:round/>
            <a:headEnd len="sm" w="sm" type="none"/>
            <a:tailEnd len="med" w="med" type="triangle"/>
          </a:ln>
        </p:spPr>
      </p:cxnSp>
      <p:sp>
        <p:nvSpPr>
          <p:cNvPr id="103" name="Google Shape;103;p5"/>
          <p:cNvSpPr txBox="1"/>
          <p:nvPr/>
        </p:nvSpPr>
        <p:spPr>
          <a:xfrm>
            <a:off x="3336925" y="979325"/>
            <a:ext cx="34500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Enrollment, completion, activity, etc data collection</a:t>
            </a:r>
            <a:endParaRPr b="0" i="0" sz="800" u="none" cap="none" strike="noStrike">
              <a:solidFill>
                <a:srgbClr val="000000"/>
              </a:solidFill>
              <a:latin typeface="Arial"/>
              <a:ea typeface="Arial"/>
              <a:cs typeface="Arial"/>
              <a:sym typeface="Arial"/>
            </a:endParaRPr>
          </a:p>
        </p:txBody>
      </p:sp>
      <p:sp>
        <p:nvSpPr>
          <p:cNvPr id="104" name="Google Shape;104;p5"/>
          <p:cNvSpPr txBox="1"/>
          <p:nvPr/>
        </p:nvSpPr>
        <p:spPr>
          <a:xfrm>
            <a:off x="2122725" y="23375"/>
            <a:ext cx="1256100" cy="60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300" u="none" cap="none" strike="noStrike">
                <a:solidFill>
                  <a:srgbClr val="000000"/>
                </a:solidFill>
                <a:latin typeface="Arial"/>
                <a:ea typeface="Arial"/>
                <a:cs typeface="Arial"/>
                <a:sym typeface="Arial"/>
              </a:rPr>
              <a:t>Video List for Phase1</a:t>
            </a:r>
            <a:endParaRPr b="0" i="0" sz="300" u="none" cap="none" strike="noStrike">
              <a:solidFill>
                <a:srgbClr val="000000"/>
              </a:solidFill>
              <a:latin typeface="Arial"/>
              <a:ea typeface="Arial"/>
              <a:cs typeface="Arial"/>
              <a:sym typeface="Arial"/>
            </a:endParaRPr>
          </a:p>
          <a:p>
            <a:pPr indent="-53339" lvl="0" marL="91440" marR="0" rtl="0" algn="l">
              <a:lnSpc>
                <a:spcPct val="100000"/>
              </a:lnSpc>
              <a:spcBef>
                <a:spcPts val="0"/>
              </a:spcBef>
              <a:spcAft>
                <a:spcPts val="0"/>
              </a:spcAft>
              <a:buClr>
                <a:srgbClr val="000000"/>
              </a:buClr>
              <a:buSzPts val="300"/>
              <a:buFont typeface="Arial"/>
              <a:buAutoNum type="arabicParenR"/>
            </a:pPr>
            <a:r>
              <a:rPr b="0" i="0" lang="en" sz="300" u="none" cap="none" strike="noStrike">
                <a:solidFill>
                  <a:srgbClr val="000000"/>
                </a:solidFill>
                <a:latin typeface="Arial"/>
                <a:ea typeface="Arial"/>
                <a:cs typeface="Arial"/>
                <a:sym typeface="Arial"/>
              </a:rPr>
              <a:t>Overview</a:t>
            </a:r>
            <a:endParaRPr b="0" i="0" sz="300" u="none" cap="none" strike="noStrike">
              <a:solidFill>
                <a:srgbClr val="000000"/>
              </a:solidFill>
              <a:latin typeface="Arial"/>
              <a:ea typeface="Arial"/>
              <a:cs typeface="Arial"/>
              <a:sym typeface="Arial"/>
            </a:endParaRPr>
          </a:p>
          <a:p>
            <a:pPr indent="-53339" lvl="0" marL="91440" marR="0" rtl="0" algn="l">
              <a:lnSpc>
                <a:spcPct val="100000"/>
              </a:lnSpc>
              <a:spcBef>
                <a:spcPts val="0"/>
              </a:spcBef>
              <a:spcAft>
                <a:spcPts val="0"/>
              </a:spcAft>
              <a:buClr>
                <a:srgbClr val="000000"/>
              </a:buClr>
              <a:buSzPts val="300"/>
              <a:buFont typeface="Arial"/>
              <a:buAutoNum type="arabicParenR"/>
            </a:pPr>
            <a:r>
              <a:rPr b="0" i="0" lang="en" sz="300" u="none" cap="none" strike="noStrike">
                <a:solidFill>
                  <a:srgbClr val="000000"/>
                </a:solidFill>
                <a:latin typeface="Arial"/>
                <a:ea typeface="Arial"/>
                <a:cs typeface="Arial"/>
                <a:sym typeface="Arial"/>
              </a:rPr>
              <a:t>Safety and Contamination</a:t>
            </a:r>
            <a:endParaRPr b="0" i="0" sz="300" u="none" cap="none" strike="noStrike">
              <a:solidFill>
                <a:srgbClr val="000000"/>
              </a:solidFill>
              <a:latin typeface="Arial"/>
              <a:ea typeface="Arial"/>
              <a:cs typeface="Arial"/>
              <a:sym typeface="Arial"/>
            </a:endParaRPr>
          </a:p>
          <a:p>
            <a:pPr indent="-53339" lvl="0" marL="91440" marR="0" rtl="0" algn="l">
              <a:lnSpc>
                <a:spcPct val="100000"/>
              </a:lnSpc>
              <a:spcBef>
                <a:spcPts val="0"/>
              </a:spcBef>
              <a:spcAft>
                <a:spcPts val="0"/>
              </a:spcAft>
              <a:buClr>
                <a:srgbClr val="000000"/>
              </a:buClr>
              <a:buSzPts val="300"/>
              <a:buFont typeface="Arial"/>
              <a:buAutoNum type="arabicParenR"/>
            </a:pPr>
            <a:r>
              <a:rPr b="0" i="0" lang="en" sz="300" u="none" cap="none" strike="noStrike">
                <a:solidFill>
                  <a:srgbClr val="000000"/>
                </a:solidFill>
                <a:latin typeface="Arial"/>
                <a:ea typeface="Arial"/>
                <a:cs typeface="Arial"/>
                <a:sym typeface="Arial"/>
              </a:rPr>
              <a:t>Prep 1X ISS</a:t>
            </a:r>
            <a:endParaRPr b="0" i="0" sz="300" u="none" cap="none" strike="noStrike">
              <a:solidFill>
                <a:srgbClr val="000000"/>
              </a:solidFill>
              <a:latin typeface="Arial"/>
              <a:ea typeface="Arial"/>
              <a:cs typeface="Arial"/>
              <a:sym typeface="Arial"/>
            </a:endParaRPr>
          </a:p>
          <a:p>
            <a:pPr indent="-53339" lvl="0" marL="91440" marR="0" rtl="0" algn="l">
              <a:lnSpc>
                <a:spcPct val="100000"/>
              </a:lnSpc>
              <a:spcBef>
                <a:spcPts val="0"/>
              </a:spcBef>
              <a:spcAft>
                <a:spcPts val="0"/>
              </a:spcAft>
              <a:buClr>
                <a:srgbClr val="000000"/>
              </a:buClr>
              <a:buSzPts val="300"/>
              <a:buFont typeface="Arial"/>
              <a:buAutoNum type="arabicParenR"/>
            </a:pPr>
            <a:r>
              <a:rPr b="0" i="0" lang="en" sz="300" u="none" cap="none" strike="noStrike">
                <a:solidFill>
                  <a:srgbClr val="000000"/>
                </a:solidFill>
                <a:latin typeface="Arial"/>
                <a:ea typeface="Arial"/>
                <a:cs typeface="Arial"/>
                <a:sym typeface="Arial"/>
              </a:rPr>
              <a:t>Prep Rxn Mix</a:t>
            </a:r>
            <a:endParaRPr b="0" i="0" sz="300" u="none" cap="none" strike="noStrike">
              <a:solidFill>
                <a:srgbClr val="000000"/>
              </a:solidFill>
              <a:latin typeface="Arial"/>
              <a:ea typeface="Arial"/>
              <a:cs typeface="Arial"/>
              <a:sym typeface="Arial"/>
            </a:endParaRPr>
          </a:p>
          <a:p>
            <a:pPr indent="-53339" lvl="0" marL="91440" marR="0" rtl="0" algn="l">
              <a:lnSpc>
                <a:spcPct val="100000"/>
              </a:lnSpc>
              <a:spcBef>
                <a:spcPts val="0"/>
              </a:spcBef>
              <a:spcAft>
                <a:spcPts val="0"/>
              </a:spcAft>
              <a:buClr>
                <a:srgbClr val="000000"/>
              </a:buClr>
              <a:buSzPts val="300"/>
              <a:buFont typeface="Arial"/>
              <a:buAutoNum type="arabicParenR"/>
            </a:pPr>
            <a:r>
              <a:rPr b="0" i="0" lang="en" sz="300" u="none" cap="none" strike="noStrike">
                <a:solidFill>
                  <a:srgbClr val="000000"/>
                </a:solidFill>
                <a:latin typeface="Arial"/>
                <a:ea typeface="Arial"/>
                <a:cs typeface="Arial"/>
                <a:sym typeface="Arial"/>
              </a:rPr>
              <a:t>Inactivation</a:t>
            </a:r>
            <a:endParaRPr b="0" i="0" sz="300" u="none" cap="none" strike="noStrike">
              <a:solidFill>
                <a:srgbClr val="000000"/>
              </a:solidFill>
              <a:latin typeface="Arial"/>
              <a:ea typeface="Arial"/>
              <a:cs typeface="Arial"/>
              <a:sym typeface="Arial"/>
            </a:endParaRPr>
          </a:p>
          <a:p>
            <a:pPr indent="-53339" lvl="0" marL="91440" marR="0" rtl="0" algn="l">
              <a:lnSpc>
                <a:spcPct val="100000"/>
              </a:lnSpc>
              <a:spcBef>
                <a:spcPts val="0"/>
              </a:spcBef>
              <a:spcAft>
                <a:spcPts val="0"/>
              </a:spcAft>
              <a:buClr>
                <a:srgbClr val="000000"/>
              </a:buClr>
              <a:buSzPts val="300"/>
              <a:buFont typeface="Arial"/>
              <a:buAutoNum type="arabicParenR"/>
            </a:pPr>
            <a:r>
              <a:rPr b="0" i="0" lang="en" sz="300" u="none" cap="none" strike="noStrike">
                <a:solidFill>
                  <a:srgbClr val="000000"/>
                </a:solidFill>
                <a:latin typeface="Arial"/>
                <a:ea typeface="Arial"/>
                <a:cs typeface="Arial"/>
                <a:sym typeface="Arial"/>
              </a:rPr>
              <a:t>Amplification (assay run)</a:t>
            </a:r>
            <a:endParaRPr b="0" i="0" sz="300" u="none" cap="none" strike="noStrike">
              <a:solidFill>
                <a:srgbClr val="000000"/>
              </a:solidFill>
              <a:latin typeface="Arial"/>
              <a:ea typeface="Arial"/>
              <a:cs typeface="Arial"/>
              <a:sym typeface="Arial"/>
            </a:endParaRPr>
          </a:p>
          <a:p>
            <a:pPr indent="-53339" lvl="0" marL="91440" marR="0" rtl="0" algn="l">
              <a:lnSpc>
                <a:spcPct val="100000"/>
              </a:lnSpc>
              <a:spcBef>
                <a:spcPts val="0"/>
              </a:spcBef>
              <a:spcAft>
                <a:spcPts val="0"/>
              </a:spcAft>
              <a:buClr>
                <a:srgbClr val="000000"/>
              </a:buClr>
              <a:buSzPts val="300"/>
              <a:buFont typeface="Arial"/>
              <a:buAutoNum type="arabicParenR"/>
            </a:pPr>
            <a:r>
              <a:rPr b="0" i="0" lang="en" sz="300" u="none" cap="none" strike="noStrike">
                <a:solidFill>
                  <a:srgbClr val="000000"/>
                </a:solidFill>
                <a:latin typeface="Arial"/>
                <a:ea typeface="Arial"/>
                <a:cs typeface="Arial"/>
                <a:sym typeface="Arial"/>
              </a:rPr>
              <a:t>App and Resulting</a:t>
            </a:r>
            <a:endParaRPr b="0" i="0" sz="300" u="none" cap="none" strike="noStrike">
              <a:solidFill>
                <a:srgbClr val="000000"/>
              </a:solidFill>
              <a:latin typeface="Arial"/>
              <a:ea typeface="Arial"/>
              <a:cs typeface="Arial"/>
              <a:sym typeface="Arial"/>
            </a:endParaRPr>
          </a:p>
          <a:p>
            <a:pPr indent="-53339" lvl="0" marL="91440" marR="0" rtl="0" algn="l">
              <a:lnSpc>
                <a:spcPct val="100000"/>
              </a:lnSpc>
              <a:spcBef>
                <a:spcPts val="0"/>
              </a:spcBef>
              <a:spcAft>
                <a:spcPts val="0"/>
              </a:spcAft>
              <a:buClr>
                <a:srgbClr val="000000"/>
              </a:buClr>
              <a:buSzPts val="300"/>
              <a:buFont typeface="Arial"/>
              <a:buAutoNum type="arabicParenR"/>
            </a:pPr>
            <a:r>
              <a:rPr b="0" i="0" lang="en" sz="300" u="none" cap="none" strike="noStrike">
                <a:solidFill>
                  <a:srgbClr val="000000"/>
                </a:solidFill>
                <a:latin typeface="Arial"/>
                <a:ea typeface="Arial"/>
                <a:cs typeface="Arial"/>
                <a:sym typeface="Arial"/>
              </a:rPr>
              <a:t>Dispenser</a:t>
            </a:r>
            <a:endParaRPr b="0" i="0" sz="300" u="none" cap="none" strike="noStrike">
              <a:solidFill>
                <a:srgbClr val="000000"/>
              </a:solidFill>
              <a:latin typeface="Arial"/>
              <a:ea typeface="Arial"/>
              <a:cs typeface="Arial"/>
              <a:sym typeface="Arial"/>
            </a:endParaRPr>
          </a:p>
        </p:txBody>
      </p:sp>
      <p:grpSp>
        <p:nvGrpSpPr>
          <p:cNvPr id="105" name="Google Shape;105;p5"/>
          <p:cNvGrpSpPr/>
          <p:nvPr/>
        </p:nvGrpSpPr>
        <p:grpSpPr>
          <a:xfrm>
            <a:off x="1415175" y="1710024"/>
            <a:ext cx="681200" cy="684299"/>
            <a:chOff x="6115596" y="2000384"/>
            <a:chExt cx="681200" cy="684093"/>
          </a:xfrm>
        </p:grpSpPr>
        <p:sp>
          <p:nvSpPr>
            <p:cNvPr id="106" name="Google Shape;106;p5"/>
            <p:cNvSpPr/>
            <p:nvPr/>
          </p:nvSpPr>
          <p:spPr>
            <a:xfrm>
              <a:off x="6115596" y="2000384"/>
              <a:ext cx="681200" cy="678325"/>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107" name="Google Shape;107;p5"/>
            <p:cNvSpPr txBox="1"/>
            <p:nvPr/>
          </p:nvSpPr>
          <p:spPr>
            <a:xfrm>
              <a:off x="6212717" y="2038277"/>
              <a:ext cx="503400" cy="646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Review</a:t>
              </a:r>
              <a:endParaRPr b="0" i="0" sz="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Quiz w Answers (moodle doc)</a:t>
              </a:r>
              <a:endParaRPr b="0" i="0" sz="1500" u="none" cap="none" strike="noStrike">
                <a:solidFill>
                  <a:srgbClr val="000000"/>
                </a:solidFill>
                <a:latin typeface="Arial"/>
                <a:ea typeface="Arial"/>
                <a:cs typeface="Arial"/>
                <a:sym typeface="Arial"/>
              </a:endParaRPr>
            </a:p>
          </p:txBody>
        </p:sp>
      </p:grpSp>
      <p:grpSp>
        <p:nvGrpSpPr>
          <p:cNvPr id="108" name="Google Shape;108;p5"/>
          <p:cNvGrpSpPr/>
          <p:nvPr/>
        </p:nvGrpSpPr>
        <p:grpSpPr>
          <a:xfrm>
            <a:off x="2987704" y="1706584"/>
            <a:ext cx="681200" cy="680144"/>
            <a:chOff x="6161720" y="1998769"/>
            <a:chExt cx="681200" cy="679940"/>
          </a:xfrm>
        </p:grpSpPr>
        <p:sp>
          <p:nvSpPr>
            <p:cNvPr id="70" name="Google Shape;70;p5"/>
            <p:cNvSpPr/>
            <p:nvPr/>
          </p:nvSpPr>
          <p:spPr>
            <a:xfrm>
              <a:off x="6161720" y="2000384"/>
              <a:ext cx="681200" cy="678325"/>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109" name="Google Shape;109;p5"/>
            <p:cNvSpPr txBox="1"/>
            <p:nvPr/>
          </p:nvSpPr>
          <p:spPr>
            <a:xfrm>
              <a:off x="6254734" y="1998769"/>
              <a:ext cx="507000" cy="646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Self Grade</a:t>
              </a:r>
              <a:endParaRPr b="0" i="0" sz="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(logged in moodle)</a:t>
              </a:r>
              <a:endParaRPr b="0" i="0" sz="600" u="none" cap="none" strike="noStrike">
                <a:solidFill>
                  <a:schemeClr val="dk1"/>
                </a:solidFill>
                <a:latin typeface="Arial"/>
                <a:ea typeface="Arial"/>
                <a:cs typeface="Arial"/>
                <a:sym typeface="Arial"/>
              </a:endParaRPr>
            </a:p>
          </p:txBody>
        </p:sp>
      </p:grpSp>
      <p:cxnSp>
        <p:nvCxnSpPr>
          <p:cNvPr id="110" name="Google Shape;110;p5"/>
          <p:cNvCxnSpPr>
            <a:stCxn id="106" idx="3"/>
            <a:endCxn id="84" idx="1"/>
          </p:cNvCxnSpPr>
          <p:nvPr/>
        </p:nvCxnSpPr>
        <p:spPr>
          <a:xfrm flipH="1" rot="10800000">
            <a:off x="2096375" y="2047489"/>
            <a:ext cx="107400" cy="1800"/>
          </a:xfrm>
          <a:prstGeom prst="curvedConnector3">
            <a:avLst>
              <a:gd fmla="val 50054" name="adj1"/>
            </a:avLst>
          </a:prstGeom>
          <a:noFill/>
          <a:ln cap="flat" cmpd="sng" w="9525">
            <a:solidFill>
              <a:schemeClr val="dk2"/>
            </a:solidFill>
            <a:prstDash val="solid"/>
            <a:round/>
            <a:headEnd len="sm" w="sm" type="none"/>
            <a:tailEnd len="med" w="med" type="triangle"/>
          </a:ln>
        </p:spPr>
      </p:cxnSp>
      <p:cxnSp>
        <p:nvCxnSpPr>
          <p:cNvPr id="111" name="Google Shape;111;p5"/>
          <p:cNvCxnSpPr>
            <a:stCxn id="84" idx="3"/>
            <a:endCxn id="70" idx="1"/>
          </p:cNvCxnSpPr>
          <p:nvPr/>
        </p:nvCxnSpPr>
        <p:spPr>
          <a:xfrm>
            <a:off x="2885091" y="2047463"/>
            <a:ext cx="102600" cy="600"/>
          </a:xfrm>
          <a:prstGeom prst="curvedConnector3">
            <a:avLst>
              <a:gd fmla="val 50006" name="adj1"/>
            </a:avLst>
          </a:prstGeom>
          <a:noFill/>
          <a:ln cap="flat" cmpd="sng" w="9525">
            <a:solidFill>
              <a:schemeClr val="dk2"/>
            </a:solidFill>
            <a:prstDash val="solid"/>
            <a:round/>
            <a:headEnd len="sm" w="sm" type="none"/>
            <a:tailEnd len="med" w="med" type="triangle"/>
          </a:ln>
        </p:spPr>
      </p:cxnSp>
      <p:cxnSp>
        <p:nvCxnSpPr>
          <p:cNvPr id="112" name="Google Shape;112;p5"/>
          <p:cNvCxnSpPr>
            <a:stCxn id="97" idx="3"/>
            <a:endCxn id="106" idx="1"/>
          </p:cNvCxnSpPr>
          <p:nvPr/>
        </p:nvCxnSpPr>
        <p:spPr>
          <a:xfrm rot="10800000">
            <a:off x="1415050" y="2049250"/>
            <a:ext cx="3750900" cy="1139400"/>
          </a:xfrm>
          <a:prstGeom prst="curvedConnector5">
            <a:avLst>
              <a:gd fmla="val -6348" name="adj1"/>
              <a:gd fmla="val 51823" name="adj2"/>
              <a:gd fmla="val 106345" name="adj3"/>
            </a:avLst>
          </a:prstGeom>
          <a:noFill/>
          <a:ln cap="flat" cmpd="sng" w="9525">
            <a:solidFill>
              <a:schemeClr val="dk2"/>
            </a:solidFill>
            <a:prstDash val="solid"/>
            <a:round/>
            <a:headEnd len="sm" w="sm" type="none"/>
            <a:tailEnd len="med" w="med" type="triangle"/>
          </a:ln>
        </p:spPr>
      </p:cxnSp>
      <p:sp>
        <p:nvSpPr>
          <p:cNvPr id="113" name="Google Shape;113;p5"/>
          <p:cNvSpPr/>
          <p:nvPr/>
        </p:nvSpPr>
        <p:spPr>
          <a:xfrm rot="5400000">
            <a:off x="3010650" y="1753025"/>
            <a:ext cx="265200" cy="4045200"/>
          </a:xfrm>
          <a:prstGeom prst="rightBrace">
            <a:avLst>
              <a:gd fmla="val 50000" name="adj1"/>
              <a:gd fmla="val 43898"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4" name="Google Shape;114;p5"/>
          <p:cNvGrpSpPr/>
          <p:nvPr/>
        </p:nvGrpSpPr>
        <p:grpSpPr>
          <a:xfrm>
            <a:off x="4695386" y="1576141"/>
            <a:ext cx="681200" cy="701887"/>
            <a:chOff x="6860245" y="1993003"/>
            <a:chExt cx="681200" cy="701676"/>
          </a:xfrm>
        </p:grpSpPr>
        <p:sp>
          <p:nvSpPr>
            <p:cNvPr id="115" name="Google Shape;115;p5"/>
            <p:cNvSpPr/>
            <p:nvPr/>
          </p:nvSpPr>
          <p:spPr>
            <a:xfrm>
              <a:off x="6860245" y="1993003"/>
              <a:ext cx="681200" cy="678325"/>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116" name="Google Shape;116;p5"/>
            <p:cNvSpPr txBox="1"/>
            <p:nvPr/>
          </p:nvSpPr>
          <p:spPr>
            <a:xfrm>
              <a:off x="6952563" y="2048479"/>
              <a:ext cx="507000" cy="646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Request on-site</a:t>
              </a:r>
              <a:endParaRPr b="0" i="0" sz="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Practice and cert </a:t>
              </a:r>
              <a:endParaRPr b="0" i="0" sz="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grpSp>
      <p:cxnSp>
        <p:nvCxnSpPr>
          <p:cNvPr id="117" name="Google Shape;117;p5"/>
          <p:cNvCxnSpPr>
            <a:stCxn id="78" idx="3"/>
            <a:endCxn id="115" idx="1"/>
          </p:cNvCxnSpPr>
          <p:nvPr/>
        </p:nvCxnSpPr>
        <p:spPr>
          <a:xfrm flipH="1" rot="10800000">
            <a:off x="4548275" y="1915363"/>
            <a:ext cx="147000" cy="6600"/>
          </a:xfrm>
          <a:prstGeom prst="curvedConnector3">
            <a:avLst>
              <a:gd fmla="val 50038" name="adj1"/>
            </a:avLst>
          </a:prstGeom>
          <a:noFill/>
          <a:ln cap="flat" cmpd="sng" w="9525">
            <a:solidFill>
              <a:schemeClr val="dk2"/>
            </a:solidFill>
            <a:prstDash val="solid"/>
            <a:round/>
            <a:headEnd len="sm" w="sm" type="none"/>
            <a:tailEnd len="med" w="med" type="triangle"/>
          </a:ln>
        </p:spPr>
      </p:cxnSp>
      <p:sp>
        <p:nvSpPr>
          <p:cNvPr id="118" name="Google Shape;118;p5"/>
          <p:cNvSpPr txBox="1"/>
          <p:nvPr/>
        </p:nvSpPr>
        <p:spPr>
          <a:xfrm>
            <a:off x="5637470" y="1792391"/>
            <a:ext cx="597000" cy="3387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rgbClr val="000000"/>
                </a:solidFill>
                <a:latin typeface="Arial"/>
                <a:ea typeface="Arial"/>
                <a:cs typeface="Arial"/>
                <a:sym typeface="Arial"/>
              </a:rPr>
              <a:t>Record Run</a:t>
            </a:r>
            <a:endParaRPr b="0" i="0" sz="5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0" i="0" lang="en" sz="500" u="none" cap="none" strike="noStrike">
                <a:solidFill>
                  <a:srgbClr val="000000"/>
                </a:solidFill>
                <a:latin typeface="Arial"/>
                <a:ea typeface="Arial"/>
                <a:cs typeface="Arial"/>
                <a:sym typeface="Arial"/>
              </a:rPr>
              <a:t>On site</a:t>
            </a:r>
            <a:endParaRPr b="0" i="0" sz="500" u="none" cap="none" strike="noStrike">
              <a:solidFill>
                <a:srgbClr val="000000"/>
              </a:solidFill>
              <a:latin typeface="Arial"/>
              <a:ea typeface="Arial"/>
              <a:cs typeface="Arial"/>
              <a:sym typeface="Arial"/>
            </a:endParaRPr>
          </a:p>
        </p:txBody>
      </p:sp>
      <p:cxnSp>
        <p:nvCxnSpPr>
          <p:cNvPr id="119" name="Google Shape;119;p5"/>
          <p:cNvCxnSpPr>
            <a:stCxn id="115" idx="3"/>
            <a:endCxn id="118" idx="1"/>
          </p:cNvCxnSpPr>
          <p:nvPr/>
        </p:nvCxnSpPr>
        <p:spPr>
          <a:xfrm>
            <a:off x="5376586" y="1915405"/>
            <a:ext cx="261000" cy="46200"/>
          </a:xfrm>
          <a:prstGeom prst="curvedConnector3">
            <a:avLst>
              <a:gd fmla="val 49978" name="adj1"/>
            </a:avLst>
          </a:prstGeom>
          <a:noFill/>
          <a:ln cap="flat" cmpd="sng" w="9525">
            <a:solidFill>
              <a:schemeClr val="dk2"/>
            </a:solidFill>
            <a:prstDash val="solid"/>
            <a:round/>
            <a:headEnd len="sm" w="sm" type="none"/>
            <a:tailEnd len="med" w="med" type="triangle"/>
          </a:ln>
        </p:spPr>
      </p:cxnSp>
      <p:cxnSp>
        <p:nvCxnSpPr>
          <p:cNvPr id="120" name="Google Shape;120;p5"/>
          <p:cNvCxnSpPr/>
          <p:nvPr/>
        </p:nvCxnSpPr>
        <p:spPr>
          <a:xfrm flipH="1" rot="5400000">
            <a:off x="5781879" y="2327950"/>
            <a:ext cx="6600" cy="3000"/>
          </a:xfrm>
          <a:prstGeom prst="curvedConnector3">
            <a:avLst>
              <a:gd fmla="val 828788" name="adj1"/>
            </a:avLst>
          </a:prstGeom>
          <a:noFill/>
          <a:ln cap="flat" cmpd="sng" w="9525">
            <a:solidFill>
              <a:schemeClr val="dk2"/>
            </a:solidFill>
            <a:prstDash val="solid"/>
            <a:round/>
            <a:headEnd len="sm" w="sm" type="none"/>
            <a:tailEnd len="med" w="med" type="triangle"/>
          </a:ln>
        </p:spPr>
      </p:cxnSp>
      <p:grpSp>
        <p:nvGrpSpPr>
          <p:cNvPr id="121" name="Google Shape;121;p5"/>
          <p:cNvGrpSpPr/>
          <p:nvPr/>
        </p:nvGrpSpPr>
        <p:grpSpPr>
          <a:xfrm>
            <a:off x="5681610" y="2559284"/>
            <a:ext cx="681200" cy="680144"/>
            <a:chOff x="6161720" y="1998769"/>
            <a:chExt cx="681200" cy="679940"/>
          </a:xfrm>
        </p:grpSpPr>
        <p:sp>
          <p:nvSpPr>
            <p:cNvPr id="122" name="Google Shape;122;p5"/>
            <p:cNvSpPr/>
            <p:nvPr/>
          </p:nvSpPr>
          <p:spPr>
            <a:xfrm>
              <a:off x="6161720" y="2000384"/>
              <a:ext cx="681200" cy="678325"/>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102" name="Google Shape;102;p5"/>
            <p:cNvSpPr txBox="1"/>
            <p:nvPr/>
          </p:nvSpPr>
          <p:spPr>
            <a:xfrm>
              <a:off x="6254734" y="1998769"/>
              <a:ext cx="507000" cy="646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Self Grade</a:t>
              </a:r>
              <a:endParaRPr b="0" i="0" sz="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(logged in moodle)</a:t>
              </a:r>
              <a:endParaRPr b="0" i="0" sz="600" u="none" cap="none" strike="noStrike">
                <a:solidFill>
                  <a:schemeClr val="dk1"/>
                </a:solidFill>
                <a:latin typeface="Arial"/>
                <a:ea typeface="Arial"/>
                <a:cs typeface="Arial"/>
                <a:sym typeface="Arial"/>
              </a:endParaRPr>
            </a:p>
          </p:txBody>
        </p:sp>
      </p:grpSp>
      <p:sp>
        <p:nvSpPr>
          <p:cNvPr id="123" name="Google Shape;123;p5"/>
          <p:cNvSpPr/>
          <p:nvPr/>
        </p:nvSpPr>
        <p:spPr>
          <a:xfrm>
            <a:off x="5941729" y="3396638"/>
            <a:ext cx="384600" cy="200400"/>
          </a:xfrm>
          <a:prstGeom prst="flowChartAlternateProcess">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Pass</a:t>
            </a:r>
            <a:endParaRPr b="0" i="0" sz="600" u="none" cap="none" strike="noStrike">
              <a:solidFill>
                <a:srgbClr val="000000"/>
              </a:solidFill>
              <a:latin typeface="Arial"/>
              <a:ea typeface="Arial"/>
              <a:cs typeface="Arial"/>
              <a:sym typeface="Arial"/>
            </a:endParaRPr>
          </a:p>
        </p:txBody>
      </p:sp>
      <p:cxnSp>
        <p:nvCxnSpPr>
          <p:cNvPr id="124" name="Google Shape;124;p5"/>
          <p:cNvCxnSpPr>
            <a:stCxn id="102" idx="2"/>
            <a:endCxn id="123" idx="0"/>
          </p:cNvCxnSpPr>
          <p:nvPr/>
        </p:nvCxnSpPr>
        <p:spPr>
          <a:xfrm flipH="1" rot="-5400000">
            <a:off x="5985524" y="3248278"/>
            <a:ext cx="191100" cy="105900"/>
          </a:xfrm>
          <a:prstGeom prst="curvedConnector3">
            <a:avLst>
              <a:gd fmla="val 49963" name="adj1"/>
            </a:avLst>
          </a:prstGeom>
          <a:noFill/>
          <a:ln cap="flat" cmpd="sng" w="9525">
            <a:solidFill>
              <a:schemeClr val="dk2"/>
            </a:solidFill>
            <a:prstDash val="solid"/>
            <a:round/>
            <a:headEnd len="sm" w="sm" type="none"/>
            <a:tailEnd len="med" w="med" type="triangle"/>
          </a:ln>
        </p:spPr>
      </p:cxnSp>
      <p:cxnSp>
        <p:nvCxnSpPr>
          <p:cNvPr id="125" name="Google Shape;125;p5"/>
          <p:cNvCxnSpPr>
            <a:stCxn id="123" idx="2"/>
            <a:endCxn id="76" idx="2"/>
          </p:cNvCxnSpPr>
          <p:nvPr/>
        </p:nvCxnSpPr>
        <p:spPr>
          <a:xfrm rot="-5400000">
            <a:off x="6404629" y="3274538"/>
            <a:ext cx="51900" cy="593100"/>
          </a:xfrm>
          <a:prstGeom prst="curvedConnector3">
            <a:avLst>
              <a:gd fmla="val -458815" name="adj1"/>
            </a:avLst>
          </a:prstGeom>
          <a:noFill/>
          <a:ln cap="flat" cmpd="sng" w="9525">
            <a:solidFill>
              <a:schemeClr val="dk2"/>
            </a:solidFill>
            <a:prstDash val="solid"/>
            <a:round/>
            <a:headEnd len="sm" w="sm" type="none"/>
            <a:tailEnd len="med" w="med" type="triangle"/>
          </a:ln>
        </p:spPr>
      </p:cxnSp>
      <p:sp>
        <p:nvSpPr>
          <p:cNvPr id="126" name="Google Shape;126;p5"/>
          <p:cNvSpPr/>
          <p:nvPr/>
        </p:nvSpPr>
        <p:spPr>
          <a:xfrm>
            <a:off x="5457688" y="3385915"/>
            <a:ext cx="384600" cy="200400"/>
          </a:xfrm>
          <a:prstGeom prst="flowChartAlternateProcess">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Arial"/>
                <a:ea typeface="Arial"/>
                <a:cs typeface="Arial"/>
                <a:sym typeface="Arial"/>
              </a:rPr>
              <a:t>Fail</a:t>
            </a:r>
            <a:endParaRPr b="0" i="0" sz="600" u="none" cap="none" strike="noStrike">
              <a:solidFill>
                <a:srgbClr val="000000"/>
              </a:solidFill>
              <a:latin typeface="Arial"/>
              <a:ea typeface="Arial"/>
              <a:cs typeface="Arial"/>
              <a:sym typeface="Arial"/>
            </a:endParaRPr>
          </a:p>
        </p:txBody>
      </p:sp>
      <p:cxnSp>
        <p:nvCxnSpPr>
          <p:cNvPr id="127" name="Google Shape;127;p5"/>
          <p:cNvCxnSpPr>
            <a:stCxn id="102" idx="2"/>
            <a:endCxn id="126" idx="0"/>
          </p:cNvCxnSpPr>
          <p:nvPr/>
        </p:nvCxnSpPr>
        <p:spPr>
          <a:xfrm rot="5400000">
            <a:off x="5748974" y="3106828"/>
            <a:ext cx="180300" cy="378000"/>
          </a:xfrm>
          <a:prstGeom prst="curvedConnector3">
            <a:avLst>
              <a:gd fmla="val 49983" name="adj1"/>
            </a:avLst>
          </a:prstGeom>
          <a:noFill/>
          <a:ln cap="flat" cmpd="sng" w="9525">
            <a:solidFill>
              <a:schemeClr val="dk2"/>
            </a:solidFill>
            <a:prstDash val="solid"/>
            <a:round/>
            <a:headEnd len="sm" w="sm" type="none"/>
            <a:tailEnd len="med" w="med" type="triangle"/>
          </a:ln>
        </p:spPr>
      </p:cxnSp>
      <p:cxnSp>
        <p:nvCxnSpPr>
          <p:cNvPr id="128" name="Google Shape;128;p5"/>
          <p:cNvCxnSpPr>
            <a:stCxn id="126" idx="1"/>
            <a:endCxn id="68" idx="3"/>
          </p:cNvCxnSpPr>
          <p:nvPr/>
        </p:nvCxnSpPr>
        <p:spPr>
          <a:xfrm flipH="1">
            <a:off x="4607788" y="3486115"/>
            <a:ext cx="849900" cy="968400"/>
          </a:xfrm>
          <a:prstGeom prst="curvedConnector3">
            <a:avLst>
              <a:gd fmla="val 50004" name="adj1"/>
            </a:avLst>
          </a:prstGeom>
          <a:noFill/>
          <a:ln cap="flat" cmpd="sng" w="9525">
            <a:solidFill>
              <a:schemeClr val="dk2"/>
            </a:solidFill>
            <a:prstDash val="dot"/>
            <a:round/>
            <a:headEnd len="sm" w="sm" type="none"/>
            <a:tailEnd len="med" w="med" type="triangle"/>
          </a:ln>
        </p:spPr>
      </p:cxnSp>
      <p:cxnSp>
        <p:nvCxnSpPr>
          <p:cNvPr id="129" name="Google Shape;129;p5"/>
          <p:cNvCxnSpPr/>
          <p:nvPr/>
        </p:nvCxnSpPr>
        <p:spPr>
          <a:xfrm flipH="1" rot="-5400000">
            <a:off x="6108256" y="2272944"/>
            <a:ext cx="6600" cy="3000"/>
          </a:xfrm>
          <a:prstGeom prst="curvedConnector3">
            <a:avLst>
              <a:gd fmla="val 828788" name="adj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nvSpPr>
        <p:spPr>
          <a:xfrm>
            <a:off x="1645225" y="1593300"/>
            <a:ext cx="61392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en" sz="3000" u="none" cap="none" strike="noStrike">
                <a:solidFill>
                  <a:srgbClr val="000000"/>
                </a:solidFill>
                <a:latin typeface="Montserrat"/>
                <a:ea typeface="Montserrat"/>
                <a:cs typeface="Montserrat"/>
                <a:sym typeface="Montserrat"/>
              </a:rPr>
              <a:t>Module 1 - The Basics</a:t>
            </a:r>
            <a:endParaRPr b="1" i="0" sz="3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p:nvPr/>
        </p:nvSpPr>
        <p:spPr>
          <a:xfrm>
            <a:off x="199675" y="749875"/>
            <a:ext cx="3970800" cy="3341700"/>
          </a:xfrm>
          <a:prstGeom prst="rect">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NEED new introductory video to set the stage</a:t>
            </a:r>
            <a:endParaRPr b="0" i="0" sz="1400" u="none" cap="none" strike="noStrike">
              <a:solidFill>
                <a:srgbClr val="000000"/>
              </a:solidFill>
              <a:latin typeface="Arial"/>
              <a:ea typeface="Arial"/>
              <a:cs typeface="Arial"/>
              <a:sym typeface="Arial"/>
            </a:endParaRPr>
          </a:p>
        </p:txBody>
      </p:sp>
      <p:sp>
        <p:nvSpPr>
          <p:cNvPr id="140" name="Google Shape;140;p7"/>
          <p:cNvSpPr txBox="1"/>
          <p:nvPr>
            <p:ph idx="4294967295" type="ctrTitle"/>
          </p:nvPr>
        </p:nvSpPr>
        <p:spPr>
          <a:xfrm>
            <a:off x="4246825" y="82525"/>
            <a:ext cx="4731000" cy="48396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15000"/>
              </a:lnSpc>
              <a:spcBef>
                <a:spcPts val="0"/>
              </a:spcBef>
              <a:spcAft>
                <a:spcPts val="0"/>
              </a:spcAft>
              <a:buClr>
                <a:schemeClr val="dk1"/>
              </a:buClr>
              <a:buSzPct val="282828"/>
              <a:buFont typeface="Montserrat"/>
              <a:buNone/>
            </a:pPr>
            <a:r>
              <a:rPr b="1" i="0" lang="en" sz="1100" u="none" cap="none" strike="noStrike">
                <a:solidFill>
                  <a:schemeClr val="dk1"/>
                </a:solidFill>
                <a:latin typeface="Montserrat"/>
                <a:ea typeface="Montserrat"/>
                <a:cs typeface="Montserrat"/>
                <a:sym typeface="Montserrat"/>
              </a:rPr>
              <a:t>Start Here: Video 1.01</a:t>
            </a:r>
            <a:endParaRPr b="1"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Big picture:</a:t>
            </a:r>
            <a:endParaRPr b="0" i="0" sz="1100" u="none" cap="none" strike="noStrike">
              <a:solidFill>
                <a:schemeClr val="dk1"/>
              </a:solidFill>
              <a:latin typeface="Montserrat"/>
              <a:ea typeface="Montserrat"/>
              <a:cs typeface="Montserrat"/>
              <a:sym typeface="Montserrat"/>
            </a:endParaRPr>
          </a:p>
          <a:p>
            <a:pPr indent="-291465" lvl="1" marL="9144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FloodLAMP’s purpose is to “unlock and scale” molecular testing, during COVID pandemic and also to improve health care moving forward.</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The goal of these modules:</a:t>
            </a:r>
            <a:endParaRPr b="0" i="0" sz="1100" u="none" cap="none" strike="noStrike">
              <a:solidFill>
                <a:schemeClr val="dk1"/>
              </a:solidFill>
              <a:latin typeface="Montserrat"/>
              <a:ea typeface="Montserrat"/>
              <a:cs typeface="Montserrat"/>
              <a:sym typeface="Montserrat"/>
            </a:endParaRPr>
          </a:p>
          <a:p>
            <a:pPr indent="-291465" lvl="1" marL="9144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Prepare someone who has basic pipetting skills to run the testing process.</a:t>
            </a:r>
            <a:endParaRPr b="0" i="0" sz="1100" u="none" cap="none" strike="noStrike">
              <a:solidFill>
                <a:schemeClr val="dk1"/>
              </a:solidFill>
              <a:latin typeface="Montserrat"/>
              <a:ea typeface="Montserrat"/>
              <a:cs typeface="Montserrat"/>
              <a:sym typeface="Montserrat"/>
            </a:endParaRPr>
          </a:p>
          <a:p>
            <a:pPr indent="-291465" lvl="1" marL="9144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There are </a:t>
            </a:r>
            <a:r>
              <a:rPr b="0" i="0" lang="en" sz="1100" u="none" cap="none" strike="noStrike">
                <a:solidFill>
                  <a:schemeClr val="dk1"/>
                </a:solidFill>
                <a:highlight>
                  <a:srgbClr val="A4C2F4"/>
                </a:highlight>
                <a:latin typeface="Montserrat"/>
                <a:ea typeface="Montserrat"/>
                <a:cs typeface="Montserrat"/>
                <a:sym typeface="Montserrat"/>
              </a:rPr>
              <a:t>15 videos that follow this one. All of them together will take about 2 hours (?) </a:t>
            </a:r>
            <a:r>
              <a:rPr b="0" i="0" lang="en" sz="1100" u="none" cap="none" strike="noStrike">
                <a:solidFill>
                  <a:schemeClr val="dk1"/>
                </a:solidFill>
                <a:latin typeface="Montserrat"/>
                <a:ea typeface="Montserrat"/>
                <a:cs typeface="Montserrat"/>
                <a:sym typeface="Montserrat"/>
              </a:rPr>
              <a:t>to complete.</a:t>
            </a:r>
            <a:endParaRPr b="0" i="0" sz="1100" u="none" cap="none" strike="noStrike">
              <a:solidFill>
                <a:schemeClr val="dk1"/>
              </a:solidFill>
              <a:latin typeface="Montserrat"/>
              <a:ea typeface="Montserrat"/>
              <a:cs typeface="Montserrat"/>
              <a:sym typeface="Montserrat"/>
            </a:endParaRPr>
          </a:p>
          <a:p>
            <a:pPr indent="-291465" lvl="1" marL="914400" marR="0" rtl="0" algn="l">
              <a:lnSpc>
                <a:spcPct val="115000"/>
              </a:lnSpc>
              <a:spcBef>
                <a:spcPts val="0"/>
              </a:spcBef>
              <a:spcAft>
                <a:spcPts val="0"/>
              </a:spcAft>
              <a:buClr>
                <a:schemeClr val="dk1"/>
              </a:buClr>
              <a:buSzPct val="100000"/>
              <a:buFont typeface="Montserrat"/>
              <a:buChar char="○"/>
            </a:pPr>
            <a:r>
              <a:rPr b="0" i="0" lang="en" sz="1100" u="none" cap="none" strike="noStrike">
                <a:solidFill>
                  <a:srgbClr val="BC1414"/>
                </a:solidFill>
                <a:latin typeface="Montserrat"/>
                <a:ea typeface="Montserrat"/>
                <a:cs typeface="Montserrat"/>
                <a:sym typeface="Montserrat"/>
              </a:rPr>
              <a:t>Embedded Note: List the Videos that follow</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Each video contains questions that about important steps of the process. These steps are what will be checked during the both the quiz and the video review of your certification run. Please pay close attention to these steps and questions and make sure you understand them.</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You’ll be able to review the videos and the summary [what are we calling the notion version of the quiz with answers?] as many times as you want and use the questions to test yourself and build your confidence.</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rgbClr val="BC1414"/>
              </a:buClr>
              <a:buSzPct val="100000"/>
              <a:buFont typeface="Montserrat"/>
              <a:buChar char="●"/>
            </a:pPr>
            <a:r>
              <a:rPr b="0" i="0" lang="en" sz="1100" u="none" cap="none" strike="noStrike">
                <a:solidFill>
                  <a:srgbClr val="BC1414"/>
                </a:solidFill>
                <a:latin typeface="Montserrat"/>
                <a:ea typeface="Montserrat"/>
                <a:cs typeface="Montserrat"/>
                <a:sym typeface="Montserrat"/>
              </a:rPr>
              <a:t>Embedded Question: I will be able to watch the videos over and over, and use the questions to build confidence.</a:t>
            </a:r>
            <a:endParaRPr b="0" i="0" sz="1100" u="none" cap="none" strike="noStrike">
              <a:solidFill>
                <a:srgbClr val="BC1414"/>
              </a:solidFill>
              <a:latin typeface="Montserrat"/>
              <a:ea typeface="Montserrat"/>
              <a:cs typeface="Montserrat"/>
              <a:sym typeface="Montserrat"/>
            </a:endParaRPr>
          </a:p>
          <a:p>
            <a:pPr indent="-291465" lvl="1" marL="914400" marR="0" rtl="0" algn="l">
              <a:lnSpc>
                <a:spcPct val="115000"/>
              </a:lnSpc>
              <a:spcBef>
                <a:spcPts val="0"/>
              </a:spcBef>
              <a:spcAft>
                <a:spcPts val="0"/>
              </a:spcAft>
              <a:buClr>
                <a:srgbClr val="BC1414"/>
              </a:buClr>
              <a:buSzPct val="100000"/>
              <a:buFont typeface="Montserrat"/>
              <a:buChar char="○"/>
            </a:pPr>
            <a:r>
              <a:rPr b="0" i="0" lang="en" sz="1100" u="none" cap="none" strike="noStrike">
                <a:solidFill>
                  <a:srgbClr val="BC1414"/>
                </a:solidFill>
                <a:latin typeface="Montserrat"/>
                <a:ea typeface="Montserrat"/>
                <a:cs typeface="Montserrat"/>
                <a:sym typeface="Montserrat"/>
              </a:rPr>
              <a:t>True/False</a:t>
            </a:r>
            <a:endParaRPr b="1"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(Continued)</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There are two top concerns when you are running this process. Safety and contamination. Continue to the next video to learn about how to best address those concerns.</a:t>
            </a:r>
            <a:endParaRPr b="1" i="0" sz="1100" u="none" cap="none" strike="noStrike">
              <a:solidFill>
                <a:schemeClr val="dk1"/>
              </a:solidFill>
              <a:latin typeface="Montserrat"/>
              <a:ea typeface="Montserrat"/>
              <a:cs typeface="Montserrat"/>
              <a:sym typeface="Montserrat"/>
            </a:endParaRPr>
          </a:p>
        </p:txBody>
      </p:sp>
      <p:pic>
        <p:nvPicPr>
          <p:cNvPr id="141" name="Google Shape;141;p7"/>
          <p:cNvPicPr preferRelativeResize="0"/>
          <p:nvPr/>
        </p:nvPicPr>
        <p:blipFill rotWithShape="1">
          <a:blip r:embed="rId3">
            <a:alphaModFix/>
          </a:blip>
          <a:srcRect b="0" l="0" r="0" t="0"/>
          <a:stretch/>
        </p:blipFill>
        <p:spPr>
          <a:xfrm>
            <a:off x="312925" y="864325"/>
            <a:ext cx="2060075" cy="1160250"/>
          </a:xfrm>
          <a:prstGeom prst="rect">
            <a:avLst/>
          </a:prstGeom>
          <a:noFill/>
          <a:ln cap="flat" cmpd="sng" w="9525">
            <a:solidFill>
              <a:schemeClr val="dk2"/>
            </a:solidFill>
            <a:prstDash val="solid"/>
            <a:round/>
            <a:headEnd len="sm" w="sm" type="none"/>
            <a:tailEnd len="sm" w="sm" type="none"/>
          </a:ln>
        </p:spPr>
      </p:pic>
      <p:sp>
        <p:nvSpPr>
          <p:cNvPr id="142" name="Google Shape;142;p7"/>
          <p:cNvSpPr txBox="1"/>
          <p:nvPr/>
        </p:nvSpPr>
        <p:spPr>
          <a:xfrm>
            <a:off x="199675" y="4178600"/>
            <a:ext cx="3970800" cy="743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Interactive Video in EdPuzzle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Randy to Camera</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1.5 minutes</a:t>
            </a:r>
            <a:endParaRPr b="0" i="0" sz="1100" u="none" cap="none" strike="noStrike">
              <a:solidFill>
                <a:srgbClr val="000000"/>
              </a:solidFill>
              <a:latin typeface="Arial"/>
              <a:ea typeface="Arial"/>
              <a:cs typeface="Arial"/>
              <a:sym typeface="Arial"/>
            </a:endParaRPr>
          </a:p>
        </p:txBody>
      </p:sp>
      <p:pic>
        <p:nvPicPr>
          <p:cNvPr id="143" name="Google Shape;143;p7"/>
          <p:cNvPicPr preferRelativeResize="0"/>
          <p:nvPr/>
        </p:nvPicPr>
        <p:blipFill rotWithShape="1">
          <a:blip r:embed="rId4">
            <a:alphaModFix/>
          </a:blip>
          <a:srcRect b="0" l="0" r="0" t="0"/>
          <a:stretch/>
        </p:blipFill>
        <p:spPr>
          <a:xfrm>
            <a:off x="199676" y="1332475"/>
            <a:ext cx="3970799" cy="3067587"/>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p:nvPr/>
        </p:nvSpPr>
        <p:spPr>
          <a:xfrm>
            <a:off x="199675" y="749875"/>
            <a:ext cx="3970800" cy="3341700"/>
          </a:xfrm>
          <a:prstGeom prst="rect">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NEED new video here to cite assumptions</a:t>
            </a:r>
            <a:endParaRPr b="0" i="0" sz="1400" u="none" cap="none" strike="noStrike">
              <a:solidFill>
                <a:srgbClr val="000000"/>
              </a:solidFill>
              <a:latin typeface="Arial"/>
              <a:ea typeface="Arial"/>
              <a:cs typeface="Arial"/>
              <a:sym typeface="Arial"/>
            </a:endParaRPr>
          </a:p>
        </p:txBody>
      </p:sp>
      <p:sp>
        <p:nvSpPr>
          <p:cNvPr id="149" name="Google Shape;149;p8"/>
          <p:cNvSpPr txBox="1"/>
          <p:nvPr>
            <p:ph idx="4294967295" type="ctrTitle"/>
          </p:nvPr>
        </p:nvSpPr>
        <p:spPr>
          <a:xfrm>
            <a:off x="4246825" y="82525"/>
            <a:ext cx="4731000" cy="467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chemeClr val="dk1"/>
              </a:buClr>
              <a:buSzPts val="2800"/>
              <a:buFont typeface="Montserrat"/>
              <a:buNone/>
            </a:pPr>
            <a:r>
              <a:rPr b="1" i="0" lang="en" sz="1100" u="none" cap="none" strike="noStrike">
                <a:solidFill>
                  <a:schemeClr val="dk1"/>
                </a:solidFill>
                <a:latin typeface="Montserrat"/>
                <a:ea typeface="Montserrat"/>
                <a:cs typeface="Montserrat"/>
                <a:sym typeface="Montserrat"/>
              </a:rPr>
              <a:t>Assumptions: Video 1.02</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chemeClr val="dk1"/>
                </a:solidFill>
                <a:latin typeface="Montserrat"/>
                <a:ea typeface="Montserrat"/>
                <a:cs typeface="Montserrat"/>
                <a:sym typeface="Montserrat"/>
              </a:rPr>
              <a:t>We have some assumptions about the learner’s previous experience and knowledge.</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chemeClr val="dk1"/>
                </a:solidFill>
                <a:latin typeface="Montserrat"/>
                <a:ea typeface="Montserrat"/>
                <a:cs typeface="Montserrat"/>
                <a:sym typeface="Montserrat"/>
              </a:rPr>
              <a:t>Answer the following questions to ensure you feel confident about your own experience and knowledge</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rgbClr val="BC1414"/>
                </a:solidFill>
                <a:latin typeface="Montserrat"/>
                <a:ea typeface="Montserrat"/>
                <a:cs typeface="Montserrat"/>
                <a:sym typeface="Montserrat"/>
              </a:rPr>
              <a:t>Embedded Question: (Feedback can be the same for all, they must be confident for all)</a:t>
            </a:r>
            <a:endParaRPr b="0" i="0" sz="1100" u="none" cap="none" strike="noStrike">
              <a:solidFill>
                <a:srgbClr val="BC1414"/>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BC1414"/>
              </a:buClr>
              <a:buSzPts val="1100"/>
              <a:buFont typeface="Montserrat"/>
              <a:buChar char="○"/>
            </a:pPr>
            <a:r>
              <a:rPr b="0" i="0" lang="en" sz="1100" u="none" cap="none" strike="noStrike">
                <a:solidFill>
                  <a:srgbClr val="BC1414"/>
                </a:solidFill>
                <a:latin typeface="Montserrat"/>
                <a:ea typeface="Montserrat"/>
                <a:cs typeface="Montserrat"/>
                <a:sym typeface="Montserrat"/>
              </a:rPr>
              <a:t>I am comfortable using a pipette to distribute different volumes of liquids (Likert? Yes/No?)</a:t>
            </a:r>
            <a:endParaRPr b="0" i="0" sz="1100" u="none" cap="none" strike="noStrike">
              <a:solidFill>
                <a:srgbClr val="BC1414"/>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BC1414"/>
              </a:buClr>
              <a:buSzPts val="1100"/>
              <a:buFont typeface="Montserrat"/>
              <a:buChar char="○"/>
            </a:pPr>
            <a:r>
              <a:rPr b="0" i="0" lang="en" sz="1100" u="none" cap="none" strike="noStrike">
                <a:solidFill>
                  <a:srgbClr val="BC1414"/>
                </a:solidFill>
                <a:latin typeface="Montserrat"/>
                <a:ea typeface="Montserrat"/>
                <a:cs typeface="Montserrat"/>
                <a:sym typeface="Montserrat"/>
              </a:rPr>
              <a:t>I can explain basic RNA/DNA contamination concerns in a lab environment (Likert? Yes/No?)</a:t>
            </a:r>
            <a:endParaRPr b="0" i="0" sz="1100" u="none" cap="none" strike="noStrike">
              <a:solidFill>
                <a:srgbClr val="BC1414"/>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BC1414"/>
              </a:buClr>
              <a:buSzPts val="1100"/>
              <a:buFont typeface="Montserrat"/>
              <a:buChar char="○"/>
            </a:pPr>
            <a:r>
              <a:rPr b="0" i="0" lang="en" sz="1100" u="none" cap="none" strike="noStrike">
                <a:solidFill>
                  <a:srgbClr val="BC1414"/>
                </a:solidFill>
                <a:latin typeface="Montserrat"/>
                <a:ea typeface="Montserrat"/>
                <a:cs typeface="Montserrat"/>
                <a:sym typeface="Montserrat"/>
              </a:rPr>
              <a:t>I know how to prevent most common contamination concerns (Likert? Yes/No?)</a:t>
            </a:r>
            <a:endParaRPr b="0" i="0" sz="1100" u="none" cap="none" strike="noStrike">
              <a:solidFill>
                <a:srgbClr val="BC1414"/>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BC1414"/>
              </a:buClr>
              <a:buSzPts val="1100"/>
              <a:buFont typeface="Montserrat"/>
              <a:buChar char="○"/>
            </a:pPr>
            <a:r>
              <a:rPr b="0" i="0" lang="en" sz="1100" u="none" cap="none" strike="noStrike">
                <a:solidFill>
                  <a:srgbClr val="BC1414"/>
                </a:solidFill>
                <a:latin typeface="Montserrat"/>
                <a:ea typeface="Montserrat"/>
                <a:cs typeface="Montserrat"/>
                <a:sym typeface="Montserrat"/>
              </a:rPr>
              <a:t>I understand and can mitigate most of the safety concerns in a reaction that has chemicals that might cause eye or skin irritation (Likert? Yes/No?)</a:t>
            </a:r>
            <a:endParaRPr b="0" i="0" sz="1100" u="none" cap="none" strike="noStrike">
              <a:solidFill>
                <a:srgbClr val="BC1414"/>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BC1414"/>
              </a:buClr>
              <a:buSzPts val="1100"/>
              <a:buFont typeface="Montserrat"/>
              <a:buChar char="○"/>
            </a:pPr>
            <a:r>
              <a:rPr b="1" i="0" lang="en" sz="1100" u="none" cap="none" strike="noStrike">
                <a:solidFill>
                  <a:srgbClr val="BC1414"/>
                </a:solidFill>
                <a:latin typeface="Montserrat"/>
                <a:ea typeface="Montserrat"/>
                <a:cs typeface="Montserrat"/>
                <a:sym typeface="Montserrat"/>
              </a:rPr>
              <a:t>(Randy to review and complete these)</a:t>
            </a:r>
            <a:endParaRPr b="1" i="0" sz="1100" u="none" cap="none" strike="noStrike">
              <a:solidFill>
                <a:srgbClr val="BC1414"/>
              </a:solidFill>
              <a:latin typeface="Montserrat"/>
              <a:ea typeface="Montserrat"/>
              <a:cs typeface="Montserrat"/>
              <a:sym typeface="Montserrat"/>
            </a:endParaRPr>
          </a:p>
        </p:txBody>
      </p:sp>
      <p:pic>
        <p:nvPicPr>
          <p:cNvPr id="150" name="Google Shape;150;p8"/>
          <p:cNvPicPr preferRelativeResize="0"/>
          <p:nvPr/>
        </p:nvPicPr>
        <p:blipFill rotWithShape="1">
          <a:blip r:embed="rId3">
            <a:alphaModFix/>
          </a:blip>
          <a:srcRect b="0" l="0" r="0" t="0"/>
          <a:stretch/>
        </p:blipFill>
        <p:spPr>
          <a:xfrm>
            <a:off x="290700" y="856925"/>
            <a:ext cx="2082450" cy="1172850"/>
          </a:xfrm>
          <a:prstGeom prst="rect">
            <a:avLst/>
          </a:prstGeom>
          <a:noFill/>
          <a:ln cap="flat" cmpd="sng" w="9525">
            <a:solidFill>
              <a:schemeClr val="dk2"/>
            </a:solidFill>
            <a:prstDash val="solid"/>
            <a:round/>
            <a:headEnd len="sm" w="sm" type="none"/>
            <a:tailEnd len="sm" w="sm" type="none"/>
          </a:ln>
        </p:spPr>
      </p:pic>
      <p:sp>
        <p:nvSpPr>
          <p:cNvPr id="151" name="Google Shape;151;p8"/>
          <p:cNvSpPr txBox="1"/>
          <p:nvPr/>
        </p:nvSpPr>
        <p:spPr>
          <a:xfrm>
            <a:off x="199675" y="4184225"/>
            <a:ext cx="3970800" cy="743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Interactive Video in EdPuzzle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Randy to Camera</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20 seconds</a:t>
            </a:r>
            <a:endParaRPr b="0" i="0" sz="1100" u="none" cap="none" strike="noStrike">
              <a:solidFill>
                <a:srgbClr val="000000"/>
              </a:solidFill>
              <a:latin typeface="Arial"/>
              <a:ea typeface="Arial"/>
              <a:cs typeface="Arial"/>
              <a:sym typeface="Arial"/>
            </a:endParaRPr>
          </a:p>
        </p:txBody>
      </p:sp>
      <p:sp>
        <p:nvSpPr>
          <p:cNvPr id="152" name="Google Shape;152;p8"/>
          <p:cNvSpPr txBox="1"/>
          <p:nvPr/>
        </p:nvSpPr>
        <p:spPr>
          <a:xfrm>
            <a:off x="2269325" y="2227000"/>
            <a:ext cx="1813500" cy="1293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Assumption 1</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Assumption 2</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Assumption 3</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Assumption 4</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Assumption 5</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Assumption 6</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9"/>
          <p:cNvSpPr txBox="1"/>
          <p:nvPr>
            <p:ph idx="4294967295" type="ctrTitle"/>
          </p:nvPr>
        </p:nvSpPr>
        <p:spPr>
          <a:xfrm>
            <a:off x="4246825" y="82525"/>
            <a:ext cx="4731000" cy="46764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15000"/>
              </a:lnSpc>
              <a:spcBef>
                <a:spcPts val="0"/>
              </a:spcBef>
              <a:spcAft>
                <a:spcPts val="0"/>
              </a:spcAft>
              <a:buClr>
                <a:schemeClr val="dk1"/>
              </a:buClr>
              <a:buSzPct val="282828"/>
              <a:buFont typeface="Montserrat"/>
              <a:buNone/>
            </a:pPr>
            <a:r>
              <a:rPr b="1" i="0" lang="en" sz="1100" u="none" cap="none" strike="noStrike">
                <a:solidFill>
                  <a:schemeClr val="dk1"/>
                </a:solidFill>
                <a:latin typeface="Montserrat"/>
                <a:ea typeface="Montserrat"/>
                <a:cs typeface="Montserrat"/>
                <a:sym typeface="Montserrat"/>
              </a:rPr>
              <a:t>Overview of the Amplification Reaction Process: Video 1.03</a:t>
            </a:r>
            <a:endParaRPr b="1"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This overview will not have all the details but it will get you oriented to the overall process.</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You’ll have all the PPE on, and you’ll have a clean and prepared environment.</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You’ll dilute the Inactivation Solution first as the diluted version can only last a day so you have to make it every day.</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You’ll take samples and you’ll inactivate them in the solution on the heater.</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You’ll combine the right amounts of the Primers (PGS) and the CLAMP MASTER MIX and 23ul of that will go into each reaction tube in the plate..</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From the inactivated samples you’ll take 2ul of each one and add that to the 23ul of the PGS and Master Mix.</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The plate will be heated and you’ll record the results.</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rgbClr val="BC1414"/>
                </a:solidFill>
                <a:latin typeface="Montserrat"/>
                <a:ea typeface="Montserrat"/>
                <a:cs typeface="Montserrat"/>
                <a:sym typeface="Montserrat"/>
              </a:rPr>
              <a:t>Embedded Question: Based on this overview, how confident are you right now about your ability to run this?</a:t>
            </a:r>
            <a:endParaRPr b="0" i="0" sz="1100" u="none" cap="none" strike="noStrike">
              <a:solidFill>
                <a:srgbClr val="BC1414"/>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rgbClr val="BC1414"/>
                </a:solidFill>
                <a:latin typeface="Montserrat"/>
                <a:ea typeface="Montserrat"/>
                <a:cs typeface="Montserrat"/>
                <a:sym typeface="Montserrat"/>
              </a:rPr>
              <a:t>Feedback for low confidence: Don’t worry! There is more training to come.</a:t>
            </a:r>
            <a:endParaRPr b="0" i="0" sz="1100" u="none" cap="none" strike="noStrike">
              <a:solidFill>
                <a:srgbClr val="BC1414"/>
              </a:solidFill>
              <a:latin typeface="Montserrat"/>
              <a:ea typeface="Montserrat"/>
              <a:cs typeface="Montserrat"/>
              <a:sym typeface="Montserrat"/>
            </a:endParaRPr>
          </a:p>
          <a:p>
            <a:pPr indent="-291465" lvl="0" marL="457200" marR="0" rtl="0" algn="l">
              <a:lnSpc>
                <a:spcPct val="115000"/>
              </a:lnSpc>
              <a:spcBef>
                <a:spcPts val="0"/>
              </a:spcBef>
              <a:spcAft>
                <a:spcPts val="0"/>
              </a:spcAft>
              <a:buClr>
                <a:srgbClr val="BC1414"/>
              </a:buClr>
              <a:buSzPct val="100000"/>
              <a:buFont typeface="Montserrat"/>
              <a:buChar char="●"/>
            </a:pPr>
            <a:r>
              <a:rPr b="0" i="0" lang="en" sz="1100" u="none" cap="none" strike="noStrike">
                <a:solidFill>
                  <a:srgbClr val="BC1414"/>
                </a:solidFill>
                <a:latin typeface="Montserrat"/>
                <a:ea typeface="Montserrat"/>
                <a:cs typeface="Montserrat"/>
                <a:sym typeface="Montserrat"/>
              </a:rPr>
              <a:t>Feedback for high confidence: Fantastic. Review the rest of the videos and complete the questions to cement your confidence and hone your skills.</a:t>
            </a:r>
            <a:endParaRPr b="0" i="0" sz="1100" u="none" cap="none" strike="noStrike">
              <a:solidFill>
                <a:srgbClr val="BC1414"/>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 </a:t>
            </a:r>
            <a:r>
              <a:rPr b="0" i="0" lang="en" sz="1100" u="sng" cap="none" strike="noStrike">
                <a:solidFill>
                  <a:schemeClr val="hlink"/>
                </a:solidFill>
                <a:latin typeface="Montserrat"/>
                <a:ea typeface="Montserrat"/>
                <a:cs typeface="Montserrat"/>
                <a:sym typeface="Montserrat"/>
                <a:hlinkClick r:id="rId3"/>
              </a:rPr>
              <a:t>Other possible “go-by” for a process graphic</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ct val="282828"/>
              <a:buFont typeface="Montserrat"/>
              <a:buNone/>
            </a:pPr>
            <a:r>
              <a:t/>
            </a:r>
            <a:endParaRPr b="0" i="0" sz="1100" u="none" cap="none" strike="noStrike">
              <a:solidFill>
                <a:srgbClr val="BC1414"/>
              </a:solidFill>
              <a:latin typeface="Montserrat"/>
              <a:ea typeface="Montserrat"/>
              <a:cs typeface="Montserrat"/>
              <a:sym typeface="Montserrat"/>
            </a:endParaRPr>
          </a:p>
        </p:txBody>
      </p:sp>
      <p:sp>
        <p:nvSpPr>
          <p:cNvPr id="158" name="Google Shape;158;p9"/>
          <p:cNvSpPr txBox="1"/>
          <p:nvPr/>
        </p:nvSpPr>
        <p:spPr>
          <a:xfrm>
            <a:off x="214150" y="3934575"/>
            <a:ext cx="3970800" cy="938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Interactive Video in EdPuzzle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Voiceover of </a:t>
            </a:r>
            <a:r>
              <a:rPr b="1" i="0" lang="en" sz="1100" u="sng" cap="none" strike="noStrike">
                <a:solidFill>
                  <a:schemeClr val="hlink"/>
                </a:solidFill>
                <a:latin typeface="Montserrat"/>
                <a:ea typeface="Montserrat"/>
                <a:cs typeface="Montserrat"/>
                <a:sym typeface="Montserrat"/>
                <a:hlinkClick r:id="rId4"/>
              </a:rPr>
              <a:t>screencast graphic</a:t>
            </a:r>
            <a:r>
              <a:rPr b="1" i="0" lang="en" sz="1100" u="none" cap="none" strike="noStrike">
                <a:solidFill>
                  <a:schemeClr val="dk1"/>
                </a:solidFill>
                <a:latin typeface="Montserrat"/>
                <a:ea typeface="Montserrat"/>
                <a:cs typeface="Montserrat"/>
                <a:sym typeface="Montserrat"/>
              </a:rPr>
              <a:t> that builds with markup </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2 minutes</a:t>
            </a:r>
            <a:endParaRPr b="0" i="0" sz="1100" u="none" cap="none" strike="noStrike">
              <a:solidFill>
                <a:srgbClr val="000000"/>
              </a:solidFill>
              <a:latin typeface="Arial"/>
              <a:ea typeface="Arial"/>
              <a:cs typeface="Arial"/>
              <a:sym typeface="Arial"/>
            </a:endParaRPr>
          </a:p>
        </p:txBody>
      </p:sp>
      <p:pic>
        <p:nvPicPr>
          <p:cNvPr id="159" name="Google Shape;159;p9">
            <a:hlinkClick r:id="rId5"/>
          </p:cNvPr>
          <p:cNvPicPr preferRelativeResize="0"/>
          <p:nvPr/>
        </p:nvPicPr>
        <p:blipFill rotWithShape="1">
          <a:blip r:embed="rId6">
            <a:alphaModFix/>
          </a:blip>
          <a:srcRect b="0" l="0" r="0" t="0"/>
          <a:stretch/>
        </p:blipFill>
        <p:spPr>
          <a:xfrm>
            <a:off x="214150" y="611925"/>
            <a:ext cx="1869826" cy="778375"/>
          </a:xfrm>
          <a:prstGeom prst="rect">
            <a:avLst/>
          </a:prstGeom>
          <a:noFill/>
          <a:ln cap="flat" cmpd="sng" w="9525">
            <a:solidFill>
              <a:schemeClr val="dk2"/>
            </a:solidFill>
            <a:prstDash val="solid"/>
            <a:round/>
            <a:headEnd len="sm" w="sm" type="none"/>
            <a:tailEnd len="sm" w="sm" type="none"/>
          </a:ln>
        </p:spPr>
      </p:pic>
      <p:sp>
        <p:nvSpPr>
          <p:cNvPr id="160" name="Google Shape;160;p9"/>
          <p:cNvSpPr txBox="1"/>
          <p:nvPr/>
        </p:nvSpPr>
        <p:spPr>
          <a:xfrm rot="-1058087">
            <a:off x="44906" y="1208764"/>
            <a:ext cx="1990437" cy="338518"/>
          </a:xfrm>
          <a:prstGeom prst="rect">
            <a:avLst/>
          </a:prstGeom>
          <a:noFill/>
          <a:ln cap="flat" cmpd="sng" w="9525">
            <a:solidFill>
              <a:srgbClr val="EA9999"/>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EA9999"/>
                </a:solidFill>
                <a:latin typeface="Montserrat"/>
                <a:ea typeface="Montserrat"/>
                <a:cs typeface="Montserrat"/>
                <a:sym typeface="Montserrat"/>
              </a:rPr>
              <a:t>”Go by” example graphics</a:t>
            </a:r>
            <a:endParaRPr b="1" i="0" sz="1000" u="none" cap="none" strike="noStrike">
              <a:solidFill>
                <a:srgbClr val="EA9999"/>
              </a:solidFill>
              <a:latin typeface="Montserrat"/>
              <a:ea typeface="Montserrat"/>
              <a:cs typeface="Montserrat"/>
              <a:sym typeface="Montserrat"/>
            </a:endParaRPr>
          </a:p>
        </p:txBody>
      </p:sp>
      <p:pic>
        <p:nvPicPr>
          <p:cNvPr id="161" name="Google Shape;161;p9">
            <a:hlinkClick r:id="rId7"/>
          </p:cNvPr>
          <p:cNvPicPr preferRelativeResize="0"/>
          <p:nvPr/>
        </p:nvPicPr>
        <p:blipFill rotWithShape="1">
          <a:blip r:embed="rId8">
            <a:alphaModFix/>
          </a:blip>
          <a:srcRect b="5204" l="0" r="0" t="0"/>
          <a:stretch/>
        </p:blipFill>
        <p:spPr>
          <a:xfrm>
            <a:off x="2291249" y="611925"/>
            <a:ext cx="1748297" cy="778374"/>
          </a:xfrm>
          <a:prstGeom prst="rect">
            <a:avLst/>
          </a:prstGeom>
          <a:noFill/>
          <a:ln cap="flat" cmpd="sng" w="9525">
            <a:solidFill>
              <a:schemeClr val="dk2"/>
            </a:solidFill>
            <a:prstDash val="solid"/>
            <a:round/>
            <a:headEnd len="sm" w="sm" type="none"/>
            <a:tailEnd len="sm" w="sm" type="none"/>
          </a:ln>
        </p:spPr>
      </p:pic>
      <p:sp>
        <p:nvSpPr>
          <p:cNvPr id="162" name="Google Shape;162;p9"/>
          <p:cNvSpPr txBox="1"/>
          <p:nvPr/>
        </p:nvSpPr>
        <p:spPr>
          <a:xfrm rot="-1058087">
            <a:off x="2170181" y="1482139"/>
            <a:ext cx="1990437" cy="338518"/>
          </a:xfrm>
          <a:prstGeom prst="rect">
            <a:avLst/>
          </a:prstGeom>
          <a:noFill/>
          <a:ln cap="flat" cmpd="sng" w="9525">
            <a:solidFill>
              <a:srgbClr val="EA9999"/>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EA9999"/>
                </a:solidFill>
                <a:latin typeface="Montserrat"/>
                <a:ea typeface="Montserrat"/>
                <a:cs typeface="Montserrat"/>
                <a:sym typeface="Montserrat"/>
              </a:rPr>
              <a:t>”Go by” example graphics</a:t>
            </a:r>
            <a:endParaRPr b="1" i="0" sz="1000" u="none" cap="none" strike="noStrike">
              <a:solidFill>
                <a:srgbClr val="EA9999"/>
              </a:solidFill>
              <a:latin typeface="Montserrat"/>
              <a:ea typeface="Montserrat"/>
              <a:cs typeface="Montserrat"/>
              <a:sym typeface="Montserrat"/>
            </a:endParaRPr>
          </a:p>
        </p:txBody>
      </p:sp>
      <p:pic>
        <p:nvPicPr>
          <p:cNvPr id="163" name="Google Shape;163;p9"/>
          <p:cNvPicPr preferRelativeResize="0"/>
          <p:nvPr/>
        </p:nvPicPr>
        <p:blipFill rotWithShape="1">
          <a:blip r:embed="rId9">
            <a:alphaModFix/>
          </a:blip>
          <a:srcRect b="0" l="0" r="0" t="0"/>
          <a:stretch/>
        </p:blipFill>
        <p:spPr>
          <a:xfrm>
            <a:off x="462149" y="1390302"/>
            <a:ext cx="3182956" cy="24589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idx="4294967295" type="ctrTitle"/>
          </p:nvPr>
        </p:nvSpPr>
        <p:spPr>
          <a:xfrm>
            <a:off x="4246825" y="82525"/>
            <a:ext cx="4731000" cy="467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chemeClr val="dk1"/>
              </a:buClr>
              <a:buSzPts val="2800"/>
              <a:buFont typeface="Montserrat"/>
              <a:buNone/>
            </a:pPr>
            <a:r>
              <a:rPr b="1" i="0" lang="en" sz="1100" u="none" cap="none" strike="noStrike">
                <a:solidFill>
                  <a:schemeClr val="dk1"/>
                </a:solidFill>
                <a:latin typeface="Montserrat"/>
                <a:ea typeface="Montserrat"/>
                <a:cs typeface="Montserrat"/>
                <a:sym typeface="Montserrat"/>
              </a:rPr>
              <a:t>The Amp Run Sheet</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chemeClr val="dk1"/>
                </a:solidFill>
                <a:latin typeface="Montserrat"/>
                <a:ea typeface="Montserrat"/>
                <a:cs typeface="Montserrat"/>
                <a:sym typeface="Montserrat"/>
              </a:rPr>
              <a:t>Review the process for completing and the need for data recording, standards and compliance</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rgbClr val="BC1414"/>
                </a:solidFill>
                <a:latin typeface="Montserrat"/>
                <a:ea typeface="Montserrat"/>
                <a:cs typeface="Montserrat"/>
                <a:sym typeface="Montserrat"/>
              </a:rPr>
              <a:t>Embedded Questions: TBD from Randy.</a:t>
            </a:r>
            <a:endParaRPr b="0" i="0" sz="1100" u="none" cap="none" strike="noStrike">
              <a:solidFill>
                <a:schemeClr val="dk1"/>
              </a:solidFill>
              <a:latin typeface="Montserrat"/>
              <a:ea typeface="Montserrat"/>
              <a:cs typeface="Montserrat"/>
              <a:sym typeface="Montserrat"/>
            </a:endParaRPr>
          </a:p>
        </p:txBody>
      </p:sp>
      <p:sp>
        <p:nvSpPr>
          <p:cNvPr id="169" name="Google Shape;169;p10"/>
          <p:cNvSpPr txBox="1"/>
          <p:nvPr/>
        </p:nvSpPr>
        <p:spPr>
          <a:xfrm>
            <a:off x="214163" y="4176275"/>
            <a:ext cx="3970800" cy="743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Interactive Video in EdPuzzle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Voiceover screencast document w/ markup</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2 minutes</a:t>
            </a:r>
            <a:endParaRPr b="0" i="0" sz="1100" u="none" cap="none" strike="noStrike">
              <a:solidFill>
                <a:srgbClr val="000000"/>
              </a:solidFill>
              <a:latin typeface="Arial"/>
              <a:ea typeface="Arial"/>
              <a:cs typeface="Arial"/>
              <a:sym typeface="Arial"/>
            </a:endParaRPr>
          </a:p>
        </p:txBody>
      </p:sp>
      <p:pic>
        <p:nvPicPr>
          <p:cNvPr id="170" name="Google Shape;170;p10"/>
          <p:cNvPicPr preferRelativeResize="0"/>
          <p:nvPr/>
        </p:nvPicPr>
        <p:blipFill rotWithShape="1">
          <a:blip r:embed="rId3">
            <a:alphaModFix/>
          </a:blip>
          <a:srcRect b="10402" l="0" r="0" t="0"/>
          <a:stretch/>
        </p:blipFill>
        <p:spPr>
          <a:xfrm>
            <a:off x="860050" y="1034412"/>
            <a:ext cx="2679050" cy="3074675"/>
          </a:xfrm>
          <a:prstGeom prst="rect">
            <a:avLst/>
          </a:prstGeom>
          <a:noFill/>
          <a:ln cap="flat" cmpd="sng" w="9525">
            <a:solidFill>
              <a:schemeClr val="dk2"/>
            </a:solidFill>
            <a:prstDash val="solid"/>
            <a:round/>
            <a:headEnd len="sm" w="sm" type="none"/>
            <a:tailEnd len="sm" w="sm" type="none"/>
          </a:ln>
        </p:spPr>
      </p:pic>
      <p:sp>
        <p:nvSpPr>
          <p:cNvPr id="171" name="Google Shape;171;p10"/>
          <p:cNvSpPr txBox="1"/>
          <p:nvPr/>
        </p:nvSpPr>
        <p:spPr>
          <a:xfrm>
            <a:off x="860050" y="575650"/>
            <a:ext cx="3000000" cy="54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0" i="0" lang="en" sz="1100" u="sng" cap="none" strike="noStrike">
                <a:solidFill>
                  <a:schemeClr val="hlink"/>
                </a:solidFill>
                <a:latin typeface="Open Sans"/>
                <a:ea typeface="Open Sans"/>
                <a:cs typeface="Open Sans"/>
                <a:sym typeface="Open Sans"/>
                <a:hlinkClick r:id="rId4"/>
              </a:rPr>
              <a:t>Short Amy Run - Any System</a:t>
            </a:r>
            <a:r>
              <a:rPr b="0" i="0" lang="en" sz="1100" u="none" cap="none" strike="noStrike">
                <a:solidFill>
                  <a:srgbClr val="0000FF"/>
                </a:solidFill>
                <a:latin typeface="Open Sans"/>
                <a:ea typeface="Open Sans"/>
                <a:cs typeface="Open Sans"/>
                <a:sym typeface="Open Sans"/>
              </a:rPr>
              <a:t>  </a:t>
            </a:r>
            <a:endParaRPr b="0" i="0" sz="1100" u="none" cap="none" strike="noStrike">
              <a:solidFill>
                <a:srgbClr val="0000FF"/>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sng" cap="none" strike="noStrike">
                <a:solidFill>
                  <a:schemeClr val="hlink"/>
                </a:solidFill>
                <a:latin typeface="Open Sans"/>
                <a:ea typeface="Open Sans"/>
                <a:cs typeface="Open Sans"/>
                <a:sym typeface="Open Sans"/>
                <a:hlinkClick r:id="rId5"/>
              </a:rPr>
              <a:t>Long Amp Run - Mini System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1"/>
          <p:cNvSpPr txBox="1"/>
          <p:nvPr>
            <p:ph idx="4294967295" type="ctrTitle"/>
          </p:nvPr>
        </p:nvSpPr>
        <p:spPr>
          <a:xfrm>
            <a:off x="4246825" y="82525"/>
            <a:ext cx="4731000" cy="467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chemeClr val="dk1"/>
              </a:buClr>
              <a:buSzPts val="2800"/>
              <a:buFont typeface="Montserrat"/>
              <a:buNone/>
            </a:pPr>
            <a:r>
              <a:rPr b="1" i="0" lang="en" sz="1100" u="none" cap="none" strike="noStrike">
                <a:solidFill>
                  <a:schemeClr val="dk1"/>
                </a:solidFill>
                <a:latin typeface="Montserrat"/>
                <a:ea typeface="Montserrat"/>
                <a:cs typeface="Montserrat"/>
                <a:sym typeface="Montserrat"/>
              </a:rPr>
              <a:t>The Collection Process</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chemeClr val="dk1"/>
                </a:solidFill>
                <a:latin typeface="Montserrat"/>
                <a:ea typeface="Montserrat"/>
                <a:cs typeface="Montserrat"/>
                <a:sym typeface="Montserrat"/>
              </a:rPr>
              <a:t>Review the document</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rgbClr val="BC1414"/>
                </a:solidFill>
                <a:latin typeface="Montserrat"/>
                <a:ea typeface="Montserrat"/>
                <a:cs typeface="Montserrat"/>
                <a:sym typeface="Montserrat"/>
              </a:rPr>
              <a:t>Embedded Questions: TBD from Randy.</a:t>
            </a:r>
            <a:endParaRPr b="0" i="0" sz="1100" u="none" cap="none" strike="noStrike">
              <a:solidFill>
                <a:schemeClr val="dk1"/>
              </a:solidFill>
              <a:latin typeface="Montserrat"/>
              <a:ea typeface="Montserrat"/>
              <a:cs typeface="Montserrat"/>
              <a:sym typeface="Montserrat"/>
            </a:endParaRPr>
          </a:p>
        </p:txBody>
      </p:sp>
      <p:sp>
        <p:nvSpPr>
          <p:cNvPr id="177" name="Google Shape;177;p11"/>
          <p:cNvSpPr txBox="1"/>
          <p:nvPr/>
        </p:nvSpPr>
        <p:spPr>
          <a:xfrm>
            <a:off x="214163" y="4176250"/>
            <a:ext cx="3970800" cy="743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Interactive Video in EdPuzzle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Voiceover screencast document w/ markup</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2 minutes</a:t>
            </a:r>
            <a:endParaRPr b="0" i="0" sz="1100" u="none" cap="none" strike="noStrike">
              <a:solidFill>
                <a:srgbClr val="000000"/>
              </a:solidFill>
              <a:latin typeface="Arial"/>
              <a:ea typeface="Arial"/>
              <a:cs typeface="Arial"/>
              <a:sym typeface="Arial"/>
            </a:endParaRPr>
          </a:p>
        </p:txBody>
      </p:sp>
      <p:pic>
        <p:nvPicPr>
          <p:cNvPr id="178" name="Google Shape;178;p11"/>
          <p:cNvPicPr preferRelativeResize="0"/>
          <p:nvPr/>
        </p:nvPicPr>
        <p:blipFill rotWithShape="1">
          <a:blip r:embed="rId3">
            <a:alphaModFix/>
          </a:blip>
          <a:srcRect b="0" l="0" r="0" t="0"/>
          <a:stretch/>
        </p:blipFill>
        <p:spPr>
          <a:xfrm>
            <a:off x="214175" y="1028663"/>
            <a:ext cx="3970801" cy="3000712"/>
          </a:xfrm>
          <a:prstGeom prst="rect">
            <a:avLst/>
          </a:prstGeom>
          <a:noFill/>
          <a:ln cap="flat" cmpd="sng" w="9525">
            <a:solidFill>
              <a:schemeClr val="dk2"/>
            </a:solidFill>
            <a:prstDash val="solid"/>
            <a:round/>
            <a:headEnd len="sm" w="sm" type="none"/>
            <a:tailEnd len="sm" w="sm" type="none"/>
          </a:ln>
        </p:spPr>
      </p:pic>
      <p:sp>
        <p:nvSpPr>
          <p:cNvPr id="179" name="Google Shape;179;p11"/>
          <p:cNvSpPr txBox="1"/>
          <p:nvPr/>
        </p:nvSpPr>
        <p:spPr>
          <a:xfrm>
            <a:off x="214175" y="740250"/>
            <a:ext cx="19683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sng" cap="none" strike="noStrike">
                <a:solidFill>
                  <a:schemeClr val="hlink"/>
                </a:solidFill>
                <a:latin typeface="Arial"/>
                <a:ea typeface="Arial"/>
                <a:cs typeface="Arial"/>
                <a:sym typeface="Arial"/>
                <a:hlinkClick r:id="rId4"/>
              </a:rPr>
              <a:t>Collection Kit PDF</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2"/>
          <p:cNvSpPr txBox="1"/>
          <p:nvPr/>
        </p:nvSpPr>
        <p:spPr>
          <a:xfrm>
            <a:off x="1645225" y="1593300"/>
            <a:ext cx="61392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en" sz="3000" u="none" cap="none" strike="noStrike">
                <a:solidFill>
                  <a:srgbClr val="000000"/>
                </a:solidFill>
                <a:latin typeface="Montserrat"/>
                <a:ea typeface="Montserrat"/>
                <a:cs typeface="Montserrat"/>
                <a:sym typeface="Montserrat"/>
              </a:rPr>
              <a:t>Module 2 - Preparing for &amp; Running the Reaction</a:t>
            </a:r>
            <a:endParaRPr b="1" i="0" sz="3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3"/>
          <p:cNvSpPr txBox="1"/>
          <p:nvPr>
            <p:ph idx="4294967295" type="ctrTitle"/>
          </p:nvPr>
        </p:nvSpPr>
        <p:spPr>
          <a:xfrm>
            <a:off x="4246825" y="82525"/>
            <a:ext cx="4731000" cy="467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chemeClr val="dk1"/>
              </a:buClr>
              <a:buSzPts val="2800"/>
              <a:buFont typeface="Montserrat"/>
              <a:buNone/>
            </a:pPr>
            <a:r>
              <a:rPr b="1" i="0" lang="en" sz="1100" u="none" cap="none" strike="noStrike">
                <a:solidFill>
                  <a:schemeClr val="dk1"/>
                </a:solidFill>
                <a:latin typeface="Montserrat"/>
                <a:ea typeface="Montserrat"/>
                <a:cs typeface="Montserrat"/>
                <a:sym typeface="Montserrat"/>
              </a:rPr>
              <a:t>Making Diluted Inactivation Solution</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chemeClr val="dk1"/>
                </a:solidFill>
                <a:latin typeface="Montserrat"/>
                <a:ea typeface="Montserrat"/>
                <a:cs typeface="Montserrat"/>
                <a:sym typeface="Montserrat"/>
              </a:rPr>
              <a:t>Adding 5mL of Saline Solution to 50uL of the Inactivation Solution (100XSS)</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rgbClr val="BC1414"/>
                </a:solidFill>
                <a:latin typeface="Montserrat"/>
                <a:ea typeface="Montserrat"/>
                <a:cs typeface="Montserrat"/>
                <a:sym typeface="Montserrat"/>
              </a:rPr>
              <a:t>Embedded Questions: TBD from Randy</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rPr b="0" i="1" lang="en" sz="1100" u="none" cap="none" strike="noStrike">
                <a:solidFill>
                  <a:schemeClr val="dk1"/>
                </a:solidFill>
                <a:latin typeface="Montserrat"/>
                <a:ea typeface="Montserrat"/>
                <a:cs typeface="Montserrat"/>
                <a:sym typeface="Montserrat"/>
              </a:rPr>
              <a:t>For all tools, parts and pieces of the lab that we see for the first time, we introduce the same way: Note with text and voiceover explaining the item in less than 20 sec.</a:t>
            </a:r>
            <a:endParaRPr b="0" i="1" sz="1100" u="none" cap="none" strike="noStrike">
              <a:solidFill>
                <a:schemeClr val="dk1"/>
              </a:solidFill>
              <a:latin typeface="Montserrat"/>
              <a:ea typeface="Montserrat"/>
              <a:cs typeface="Montserrat"/>
              <a:sym typeface="Montserrat"/>
            </a:endParaRPr>
          </a:p>
        </p:txBody>
      </p:sp>
      <p:sp>
        <p:nvSpPr>
          <p:cNvPr id="190" name="Google Shape;190;p13"/>
          <p:cNvSpPr txBox="1"/>
          <p:nvPr/>
        </p:nvSpPr>
        <p:spPr>
          <a:xfrm>
            <a:off x="199213" y="4243525"/>
            <a:ext cx="3970800" cy="743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Interactive Video in EdPuzzle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1 minute</a:t>
            </a:r>
            <a:endParaRPr b="1" i="0" sz="11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1" name="Google Shape;191;p13"/>
          <p:cNvSpPr/>
          <p:nvPr/>
        </p:nvSpPr>
        <p:spPr>
          <a:xfrm>
            <a:off x="199675" y="749875"/>
            <a:ext cx="3970800" cy="3341700"/>
          </a:xfrm>
          <a:prstGeom prst="rect">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Existing video of making inactivation solution</a:t>
            </a:r>
            <a:endParaRPr b="0" i="0" sz="1400" u="none" cap="none" strike="noStrike">
              <a:solidFill>
                <a:srgbClr val="000000"/>
              </a:solidFill>
              <a:latin typeface="Arial"/>
              <a:ea typeface="Arial"/>
              <a:cs typeface="Arial"/>
              <a:sym typeface="Arial"/>
            </a:endParaRPr>
          </a:p>
        </p:txBody>
      </p:sp>
      <p:pic>
        <p:nvPicPr>
          <p:cNvPr id="192" name="Google Shape;192;p13"/>
          <p:cNvPicPr preferRelativeResize="0"/>
          <p:nvPr/>
        </p:nvPicPr>
        <p:blipFill rotWithShape="1">
          <a:blip r:embed="rId3">
            <a:alphaModFix/>
          </a:blip>
          <a:srcRect b="0" l="0" r="0" t="0"/>
          <a:stretch/>
        </p:blipFill>
        <p:spPr>
          <a:xfrm>
            <a:off x="338625" y="854550"/>
            <a:ext cx="1782400" cy="1029114"/>
          </a:xfrm>
          <a:prstGeom prst="rect">
            <a:avLst/>
          </a:prstGeom>
          <a:noFill/>
          <a:ln>
            <a:noFill/>
          </a:ln>
        </p:spPr>
      </p:pic>
      <p:pic>
        <p:nvPicPr>
          <p:cNvPr id="193" name="Google Shape;193;p13"/>
          <p:cNvPicPr preferRelativeResize="0"/>
          <p:nvPr/>
        </p:nvPicPr>
        <p:blipFill rotWithShape="1">
          <a:blip r:embed="rId4">
            <a:alphaModFix/>
          </a:blip>
          <a:srcRect b="0" l="0" r="0" t="0"/>
          <a:stretch/>
        </p:blipFill>
        <p:spPr>
          <a:xfrm>
            <a:off x="338625" y="2019100"/>
            <a:ext cx="2785100" cy="1578950"/>
          </a:xfrm>
          <a:prstGeom prst="rect">
            <a:avLst/>
          </a:prstGeom>
          <a:noFill/>
          <a:ln>
            <a:noFill/>
          </a:ln>
        </p:spPr>
      </p:pic>
      <p:sp>
        <p:nvSpPr>
          <p:cNvPr id="194" name="Google Shape;194;p13"/>
          <p:cNvSpPr txBox="1"/>
          <p:nvPr/>
        </p:nvSpPr>
        <p:spPr>
          <a:xfrm>
            <a:off x="199225" y="531450"/>
            <a:ext cx="30000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sng" cap="none" strike="noStrike">
                <a:solidFill>
                  <a:schemeClr val="hlink"/>
                </a:solidFill>
                <a:latin typeface="Arial"/>
                <a:ea typeface="Arial"/>
                <a:cs typeface="Arial"/>
                <a:sym typeface="Arial"/>
                <a:hlinkClick r:id="rId5"/>
              </a:rPr>
              <a:t>https://vimeo.com/602040532</a:t>
            </a:r>
            <a:r>
              <a:rPr b="0" i="0" lang="en" sz="900" u="none" cap="none" strike="noStrike">
                <a:solidFill>
                  <a:srgbClr val="000000"/>
                </a:solidFill>
                <a:latin typeface="Arial"/>
                <a:ea typeface="Arial"/>
                <a:cs typeface="Arial"/>
                <a:sym typeface="Arial"/>
              </a:rPr>
              <a:t> </a:t>
            </a:r>
            <a:endParaRPr b="0" i="0" sz="900" u="none" cap="none" strike="noStrike">
              <a:solidFill>
                <a:srgbClr val="000000"/>
              </a:solidFill>
              <a:latin typeface="Arial"/>
              <a:ea typeface="Arial"/>
              <a:cs typeface="Arial"/>
              <a:sym typeface="Arial"/>
            </a:endParaRPr>
          </a:p>
        </p:txBody>
      </p:sp>
      <p:pic>
        <p:nvPicPr>
          <p:cNvPr id="195" name="Google Shape;195;p13"/>
          <p:cNvPicPr preferRelativeResize="0"/>
          <p:nvPr/>
        </p:nvPicPr>
        <p:blipFill rotWithShape="1">
          <a:blip r:embed="rId6">
            <a:alphaModFix/>
          </a:blip>
          <a:srcRect b="25135" l="0" r="69631" t="8122"/>
          <a:stretch/>
        </p:blipFill>
        <p:spPr>
          <a:xfrm>
            <a:off x="3036650" y="854550"/>
            <a:ext cx="966600" cy="16412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4"/>
          <p:cNvSpPr txBox="1"/>
          <p:nvPr>
            <p:ph idx="4294967295" type="ctrTitle"/>
          </p:nvPr>
        </p:nvSpPr>
        <p:spPr>
          <a:xfrm>
            <a:off x="4246825" y="82525"/>
            <a:ext cx="4731000" cy="467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chemeClr val="dk1"/>
              </a:buClr>
              <a:buSzPts val="2800"/>
              <a:buFont typeface="Montserrat"/>
              <a:buNone/>
            </a:pPr>
            <a:r>
              <a:rPr b="1" i="0" lang="en" sz="1100" u="none" cap="none" strike="noStrike">
                <a:solidFill>
                  <a:schemeClr val="dk1"/>
                </a:solidFill>
                <a:latin typeface="Montserrat"/>
                <a:ea typeface="Montserrat"/>
                <a:cs typeface="Montserrat"/>
                <a:sym typeface="Montserrat"/>
              </a:rPr>
              <a:t>Inactivating the Samples</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chemeClr val="dk1"/>
                </a:solidFill>
                <a:latin typeface="Montserrat"/>
                <a:ea typeface="Montserrat"/>
                <a:cs typeface="Montserrat"/>
                <a:sym typeface="Montserrat"/>
              </a:rPr>
              <a:t>Adding 1mL of the 1XISS inactivation solution to each sample and heating them</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rgbClr val="BC1414"/>
                </a:solidFill>
                <a:latin typeface="Montserrat"/>
                <a:ea typeface="Montserrat"/>
                <a:cs typeface="Montserrat"/>
                <a:sym typeface="Montserrat"/>
              </a:rPr>
              <a:t>Embedded Questions: TBD from Randy</a:t>
            </a:r>
            <a:endParaRPr b="0" i="0" sz="1100" u="none" cap="none" strike="noStrike">
              <a:solidFill>
                <a:schemeClr val="dk1"/>
              </a:solidFill>
              <a:latin typeface="Montserrat"/>
              <a:ea typeface="Montserrat"/>
              <a:cs typeface="Montserrat"/>
              <a:sym typeface="Montserrat"/>
            </a:endParaRPr>
          </a:p>
        </p:txBody>
      </p:sp>
      <p:sp>
        <p:nvSpPr>
          <p:cNvPr id="201" name="Google Shape;201;p14"/>
          <p:cNvSpPr txBox="1"/>
          <p:nvPr/>
        </p:nvSpPr>
        <p:spPr>
          <a:xfrm>
            <a:off x="199213" y="4243525"/>
            <a:ext cx="3970800" cy="743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Interactive Video in EdPuzzle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4 minute</a:t>
            </a:r>
            <a:endParaRPr b="1" i="0" sz="11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2" name="Google Shape;202;p14"/>
          <p:cNvSpPr/>
          <p:nvPr/>
        </p:nvSpPr>
        <p:spPr>
          <a:xfrm>
            <a:off x="199675" y="749875"/>
            <a:ext cx="3970800" cy="3341700"/>
          </a:xfrm>
          <a:prstGeom prst="rect">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Existing video of inactivating samples</a:t>
            </a:r>
            <a:endParaRPr b="0" i="0" sz="1400" u="none" cap="none" strike="noStrike">
              <a:solidFill>
                <a:srgbClr val="000000"/>
              </a:solidFill>
              <a:latin typeface="Arial"/>
              <a:ea typeface="Arial"/>
              <a:cs typeface="Arial"/>
              <a:sym typeface="Arial"/>
            </a:endParaRPr>
          </a:p>
        </p:txBody>
      </p:sp>
      <p:pic>
        <p:nvPicPr>
          <p:cNvPr id="203" name="Google Shape;203;p14"/>
          <p:cNvPicPr preferRelativeResize="0"/>
          <p:nvPr/>
        </p:nvPicPr>
        <p:blipFill rotWithShape="1">
          <a:blip r:embed="rId3">
            <a:alphaModFix/>
          </a:blip>
          <a:srcRect b="0" l="0" r="0" t="0"/>
          <a:stretch/>
        </p:blipFill>
        <p:spPr>
          <a:xfrm>
            <a:off x="472175" y="1741275"/>
            <a:ext cx="2827950" cy="1533876"/>
          </a:xfrm>
          <a:prstGeom prst="rect">
            <a:avLst/>
          </a:prstGeom>
          <a:noFill/>
          <a:ln>
            <a:noFill/>
          </a:ln>
        </p:spPr>
      </p:pic>
      <p:sp>
        <p:nvSpPr>
          <p:cNvPr id="204" name="Google Shape;204;p14"/>
          <p:cNvSpPr txBox="1"/>
          <p:nvPr/>
        </p:nvSpPr>
        <p:spPr>
          <a:xfrm>
            <a:off x="199225" y="531450"/>
            <a:ext cx="30000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sng" cap="none" strike="noStrike">
                <a:solidFill>
                  <a:schemeClr val="hlink"/>
                </a:solidFill>
                <a:latin typeface="Arial"/>
                <a:ea typeface="Arial"/>
                <a:cs typeface="Arial"/>
                <a:sym typeface="Arial"/>
                <a:hlinkClick r:id="rId4"/>
              </a:rPr>
              <a:t>https://vimeo.com/602040532</a:t>
            </a:r>
            <a:r>
              <a:rPr b="0" i="0" lang="en" sz="900" u="none" cap="none" strike="noStrike">
                <a:solidFill>
                  <a:srgbClr val="000000"/>
                </a:solidFill>
                <a:latin typeface="Arial"/>
                <a:ea typeface="Arial"/>
                <a:cs typeface="Arial"/>
                <a:sym typeface="Arial"/>
              </a:rPr>
              <a:t> Around 6 minute mark</a:t>
            </a:r>
            <a:endParaRPr b="0" i="0" sz="900" u="none" cap="none" strike="noStrike">
              <a:solidFill>
                <a:srgbClr val="000000"/>
              </a:solidFill>
              <a:latin typeface="Arial"/>
              <a:ea typeface="Arial"/>
              <a:cs typeface="Arial"/>
              <a:sym typeface="Arial"/>
            </a:endParaRPr>
          </a:p>
        </p:txBody>
      </p:sp>
      <p:pic>
        <p:nvPicPr>
          <p:cNvPr id="205" name="Google Shape;205;p14"/>
          <p:cNvPicPr preferRelativeResize="0"/>
          <p:nvPr/>
        </p:nvPicPr>
        <p:blipFill rotWithShape="1">
          <a:blip r:embed="rId5">
            <a:alphaModFix/>
          </a:blip>
          <a:srcRect b="0" l="3438" r="47303" t="43875"/>
          <a:stretch/>
        </p:blipFill>
        <p:spPr>
          <a:xfrm>
            <a:off x="2461850" y="854550"/>
            <a:ext cx="1567949" cy="138007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txBox="1"/>
          <p:nvPr>
            <p:ph idx="4294967295" type="ctrTitle"/>
          </p:nvPr>
        </p:nvSpPr>
        <p:spPr>
          <a:xfrm>
            <a:off x="4246825" y="82525"/>
            <a:ext cx="4731000" cy="46764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15000"/>
              </a:lnSpc>
              <a:spcBef>
                <a:spcPts val="0"/>
              </a:spcBef>
              <a:spcAft>
                <a:spcPts val="0"/>
              </a:spcAft>
              <a:buClr>
                <a:schemeClr val="dk1"/>
              </a:buClr>
              <a:buSzPct val="282828"/>
              <a:buFont typeface="Montserrat"/>
              <a:buNone/>
            </a:pPr>
            <a:r>
              <a:rPr b="1" i="0" lang="en" sz="1100" u="none" cap="none" strike="noStrike">
                <a:solidFill>
                  <a:schemeClr val="dk1"/>
                </a:solidFill>
                <a:latin typeface="Montserrat"/>
                <a:ea typeface="Montserrat"/>
                <a:cs typeface="Montserrat"/>
                <a:sym typeface="Montserrat"/>
              </a:rPr>
              <a:t>Making the Mix</a:t>
            </a:r>
            <a:endParaRPr b="1"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Making the reaction mix for 48 reactions by combining PGS and CLAMP Master Mix</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Add 655uL red MM to a PGS tube</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Get CLAMP MM, PGS, P1000 and Tips </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Set P1000 to 655 uL and dispense 655 uL of the red MM into the PGS tube dispense in middle and move tip to top to finish, blowout in liquid, tip touch</a:t>
            </a:r>
            <a:endParaRPr b="0" i="0"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Arial"/>
              <a:buChar char="●"/>
            </a:pPr>
            <a:r>
              <a:rPr b="0" i="0" lang="en" sz="1100" u="none" cap="none" strike="noStrike">
                <a:solidFill>
                  <a:srgbClr val="BC1414"/>
                </a:solidFill>
                <a:latin typeface="Montserrat"/>
                <a:ea typeface="Montserrat"/>
                <a:cs typeface="Montserrat"/>
                <a:sym typeface="Montserrat"/>
              </a:rPr>
              <a:t>Embedded Question: What will happen if you dispense at the bottom of 1.5mL tube? </a:t>
            </a:r>
            <a:endParaRPr b="0" i="0" sz="1100" u="none" cap="none" strike="noStrike">
              <a:solidFill>
                <a:srgbClr val="BC1414"/>
              </a:solidFill>
              <a:latin typeface="Montserrat"/>
              <a:ea typeface="Montserrat"/>
              <a:cs typeface="Montserrat"/>
              <a:sym typeface="Montserrat"/>
            </a:endParaRPr>
          </a:p>
          <a:p>
            <a:pPr indent="-291465" lvl="1" marL="914400" marR="0" rtl="0" algn="l">
              <a:lnSpc>
                <a:spcPct val="115000"/>
              </a:lnSpc>
              <a:spcBef>
                <a:spcPts val="0"/>
              </a:spcBef>
              <a:spcAft>
                <a:spcPts val="0"/>
              </a:spcAft>
              <a:buClr>
                <a:schemeClr val="dk1"/>
              </a:buClr>
              <a:buSzPct val="100000"/>
              <a:buFont typeface="Arial"/>
              <a:buChar char="○"/>
            </a:pPr>
            <a:r>
              <a:rPr b="0" i="0" lang="en" sz="1100" u="none" cap="none" strike="noStrike">
                <a:solidFill>
                  <a:srgbClr val="BC1414"/>
                </a:solidFill>
                <a:latin typeface="Montserrat"/>
                <a:ea typeface="Montserrat"/>
                <a:cs typeface="Montserrat"/>
                <a:sym typeface="Montserrat"/>
              </a:rPr>
              <a:t>Nothing</a:t>
            </a:r>
            <a:endParaRPr b="0" i="0" sz="1100" u="none" cap="none" strike="noStrike">
              <a:solidFill>
                <a:srgbClr val="BC1414"/>
              </a:solidFill>
              <a:latin typeface="Montserrat"/>
              <a:ea typeface="Montserrat"/>
              <a:cs typeface="Montserrat"/>
              <a:sym typeface="Montserrat"/>
            </a:endParaRPr>
          </a:p>
          <a:p>
            <a:pPr indent="-291464" lvl="2" marL="1371600" marR="0" rtl="0" algn="l">
              <a:lnSpc>
                <a:spcPct val="115000"/>
              </a:lnSpc>
              <a:spcBef>
                <a:spcPts val="0"/>
              </a:spcBef>
              <a:spcAft>
                <a:spcPts val="0"/>
              </a:spcAft>
              <a:buClr>
                <a:srgbClr val="BC1414"/>
              </a:buClr>
              <a:buSzPct val="100000"/>
              <a:buFont typeface="Montserrat"/>
              <a:buChar char="■"/>
            </a:pPr>
            <a:r>
              <a:rPr b="0" i="0" lang="en" sz="1100" u="none" cap="none" strike="noStrike">
                <a:solidFill>
                  <a:srgbClr val="BC1414"/>
                </a:solidFill>
                <a:latin typeface="Montserrat"/>
                <a:ea typeface="Montserrat"/>
                <a:cs typeface="Montserrat"/>
                <a:sym typeface="Montserrat"/>
              </a:rPr>
              <a:t>Feedback: Think about the volume of the tip going into a nearly full tube.</a:t>
            </a:r>
            <a:endParaRPr b="0" i="0" sz="1100" u="none" cap="none" strike="noStrike">
              <a:solidFill>
                <a:srgbClr val="BC1414"/>
              </a:solidFill>
              <a:latin typeface="Montserrat"/>
              <a:ea typeface="Montserrat"/>
              <a:cs typeface="Montserrat"/>
              <a:sym typeface="Montserrat"/>
            </a:endParaRPr>
          </a:p>
          <a:p>
            <a:pPr indent="-291465" lvl="1" marL="914400" marR="0" rtl="0" algn="l">
              <a:lnSpc>
                <a:spcPct val="115000"/>
              </a:lnSpc>
              <a:spcBef>
                <a:spcPts val="0"/>
              </a:spcBef>
              <a:spcAft>
                <a:spcPts val="0"/>
              </a:spcAft>
              <a:buClr>
                <a:schemeClr val="dk1"/>
              </a:buClr>
              <a:buSzPct val="100000"/>
              <a:buFont typeface="Arial"/>
              <a:buChar char="○"/>
            </a:pPr>
            <a:r>
              <a:rPr b="0" i="0" lang="en" sz="1100" u="none" cap="none" strike="noStrike">
                <a:solidFill>
                  <a:srgbClr val="BC1414"/>
                </a:solidFill>
                <a:latin typeface="Montserrat"/>
                <a:ea typeface="Montserrat"/>
                <a:cs typeface="Montserrat"/>
                <a:sym typeface="Montserrat"/>
              </a:rPr>
              <a:t>Oops, it will overflow</a:t>
            </a:r>
            <a:endParaRPr b="0" i="0" sz="1100" u="none" cap="none" strike="noStrike">
              <a:solidFill>
                <a:srgbClr val="BC1414"/>
              </a:solidFill>
              <a:latin typeface="Montserrat"/>
              <a:ea typeface="Montserrat"/>
              <a:cs typeface="Montserrat"/>
              <a:sym typeface="Montserrat"/>
            </a:endParaRPr>
          </a:p>
          <a:p>
            <a:pPr indent="-291464" lvl="2" marL="1371600" marR="0" rtl="0" algn="l">
              <a:lnSpc>
                <a:spcPct val="115000"/>
              </a:lnSpc>
              <a:spcBef>
                <a:spcPts val="0"/>
              </a:spcBef>
              <a:spcAft>
                <a:spcPts val="0"/>
              </a:spcAft>
              <a:buClr>
                <a:schemeClr val="dk1"/>
              </a:buClr>
              <a:buSzPct val="100000"/>
              <a:buFont typeface="Arial"/>
              <a:buChar char="■"/>
            </a:pPr>
            <a:r>
              <a:rPr b="0" i="0" lang="en" sz="1100" u="none" cap="none" strike="noStrike">
                <a:solidFill>
                  <a:srgbClr val="BC1414"/>
                </a:solidFill>
                <a:latin typeface="Montserrat"/>
                <a:ea typeface="Montserrat"/>
                <a:cs typeface="Montserrat"/>
                <a:sym typeface="Montserrat"/>
              </a:rPr>
              <a:t>Feedback: this is because the pipette tip is large for the tube size and displaces the liquid inside</a:t>
            </a:r>
            <a:endParaRPr b="0" i="1" sz="1100" u="none" cap="none" strike="noStrike">
              <a:solidFill>
                <a:schemeClr val="dk1"/>
              </a:solidFill>
              <a:latin typeface="Montserrat"/>
              <a:ea typeface="Montserrat"/>
              <a:cs typeface="Montserrat"/>
              <a:sym typeface="Montserrat"/>
            </a:endParaRPr>
          </a:p>
          <a:p>
            <a:pPr indent="-291465" lvl="0" marL="457200" marR="0" rtl="0" algn="l">
              <a:lnSpc>
                <a:spcPct val="115000"/>
              </a:lnSpc>
              <a:spcBef>
                <a:spcPts val="0"/>
              </a:spcBef>
              <a:spcAft>
                <a:spcPts val="0"/>
              </a:spcAft>
              <a:buClr>
                <a:schemeClr val="dk1"/>
              </a:buClr>
              <a:buSzPct val="100000"/>
              <a:buFont typeface="Montserrat"/>
              <a:buChar char="●"/>
            </a:pPr>
            <a:r>
              <a:rPr b="0" i="0" lang="en" sz="1100" u="none" cap="none" strike="noStrike">
                <a:solidFill>
                  <a:schemeClr val="dk1"/>
                </a:solidFill>
                <a:latin typeface="Montserrat"/>
                <a:ea typeface="Montserrat"/>
                <a:cs typeface="Montserrat"/>
                <a:sym typeface="Montserrat"/>
              </a:rPr>
              <a:t>Vortex for 10 seconds, and use the mini centrifuge with a ballast on the other side for about one second to bring all the solution to the bottom of the tube. You can make a ballast by filling a spare 1.5 mL snap cap tube with water and placing it on the polar opposite side of the centrifuge to balance it while rotating. This should drastically reduce vibration.</a:t>
            </a:r>
            <a:endParaRPr b="0"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ct val="282828"/>
              <a:buFont typeface="Montserrat"/>
              <a:buNone/>
            </a:pPr>
            <a:r>
              <a:t/>
            </a:r>
            <a:endParaRPr b="0" i="0" sz="1100" u="none" cap="none" strike="noStrike">
              <a:solidFill>
                <a:schemeClr val="dk1"/>
              </a:solidFill>
              <a:latin typeface="Montserrat"/>
              <a:ea typeface="Montserrat"/>
              <a:cs typeface="Montserrat"/>
              <a:sym typeface="Montserrat"/>
            </a:endParaRPr>
          </a:p>
        </p:txBody>
      </p:sp>
      <p:sp>
        <p:nvSpPr>
          <p:cNvPr id="211" name="Google Shape;211;p15"/>
          <p:cNvSpPr txBox="1"/>
          <p:nvPr/>
        </p:nvSpPr>
        <p:spPr>
          <a:xfrm>
            <a:off x="199213" y="4243525"/>
            <a:ext cx="3970800" cy="743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Interactive Video in EdPuzzle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4 minutes</a:t>
            </a:r>
            <a:endParaRPr b="1" i="0" sz="11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2" name="Google Shape;212;p15"/>
          <p:cNvSpPr/>
          <p:nvPr/>
        </p:nvSpPr>
        <p:spPr>
          <a:xfrm>
            <a:off x="199675" y="749875"/>
            <a:ext cx="3970800" cy="3341700"/>
          </a:xfrm>
          <a:prstGeom prst="rect">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Existing video of making the mix</a:t>
            </a:r>
            <a:endParaRPr b="0" i="0" sz="1400" u="none" cap="none" strike="noStrike">
              <a:solidFill>
                <a:srgbClr val="000000"/>
              </a:solidFill>
              <a:latin typeface="Arial"/>
              <a:ea typeface="Arial"/>
              <a:cs typeface="Arial"/>
              <a:sym typeface="Arial"/>
            </a:endParaRPr>
          </a:p>
        </p:txBody>
      </p:sp>
      <p:pic>
        <p:nvPicPr>
          <p:cNvPr id="213" name="Google Shape;213;p15"/>
          <p:cNvPicPr preferRelativeResize="0"/>
          <p:nvPr/>
        </p:nvPicPr>
        <p:blipFill rotWithShape="1">
          <a:blip r:embed="rId3">
            <a:alphaModFix/>
          </a:blip>
          <a:srcRect b="0" l="0" r="0" t="0"/>
          <a:stretch/>
        </p:blipFill>
        <p:spPr>
          <a:xfrm>
            <a:off x="351625" y="2154513"/>
            <a:ext cx="1804025" cy="1228218"/>
          </a:xfrm>
          <a:prstGeom prst="rect">
            <a:avLst/>
          </a:prstGeom>
          <a:noFill/>
          <a:ln>
            <a:noFill/>
          </a:ln>
        </p:spPr>
      </p:pic>
      <p:sp>
        <p:nvSpPr>
          <p:cNvPr id="214" name="Google Shape;214;p15"/>
          <p:cNvSpPr txBox="1"/>
          <p:nvPr/>
        </p:nvSpPr>
        <p:spPr>
          <a:xfrm>
            <a:off x="199675" y="520250"/>
            <a:ext cx="30000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 sz="800" u="sng" cap="none" strike="noStrike">
                <a:solidFill>
                  <a:schemeClr val="hlink"/>
                </a:solidFill>
                <a:latin typeface="Arial"/>
                <a:ea typeface="Arial"/>
                <a:cs typeface="Arial"/>
                <a:sym typeface="Arial"/>
                <a:hlinkClick r:id="rId4"/>
              </a:rPr>
              <a:t>https://vimeo.com/602040683</a:t>
            </a:r>
            <a:r>
              <a:rPr b="0" i="0" lang="en" sz="800" u="none" cap="none" strike="noStrike">
                <a:solidFill>
                  <a:srgbClr val="000000"/>
                </a:solidFill>
                <a:latin typeface="Arial"/>
                <a:ea typeface="Arial"/>
                <a:cs typeface="Arial"/>
                <a:sym typeface="Arial"/>
              </a:rPr>
              <a:t> </a:t>
            </a:r>
            <a:endParaRPr b="0" i="0" sz="800" u="none" cap="none" strike="noStrike">
              <a:solidFill>
                <a:srgbClr val="000000"/>
              </a:solidFill>
              <a:latin typeface="Arial"/>
              <a:ea typeface="Arial"/>
              <a:cs typeface="Arial"/>
              <a:sym typeface="Arial"/>
            </a:endParaRPr>
          </a:p>
        </p:txBody>
      </p:sp>
      <p:pic>
        <p:nvPicPr>
          <p:cNvPr id="215" name="Google Shape;215;p15"/>
          <p:cNvPicPr preferRelativeResize="0"/>
          <p:nvPr/>
        </p:nvPicPr>
        <p:blipFill rotWithShape="1">
          <a:blip r:embed="rId5">
            <a:alphaModFix/>
          </a:blip>
          <a:srcRect b="0" l="0" r="0" t="19698"/>
          <a:stretch/>
        </p:blipFill>
        <p:spPr>
          <a:xfrm>
            <a:off x="2352875" y="1192325"/>
            <a:ext cx="5846050" cy="3473449"/>
          </a:xfrm>
          <a:prstGeom prst="rect">
            <a:avLst/>
          </a:prstGeom>
          <a:noFill/>
          <a:ln>
            <a:noFill/>
          </a:ln>
        </p:spPr>
      </p:pic>
      <p:pic>
        <p:nvPicPr>
          <p:cNvPr id="216" name="Google Shape;216;p15"/>
          <p:cNvPicPr preferRelativeResize="0"/>
          <p:nvPr/>
        </p:nvPicPr>
        <p:blipFill rotWithShape="1">
          <a:blip r:embed="rId6">
            <a:alphaModFix/>
          </a:blip>
          <a:srcRect b="0" l="0" r="0" t="0"/>
          <a:stretch/>
        </p:blipFill>
        <p:spPr>
          <a:xfrm>
            <a:off x="2352875" y="2166900"/>
            <a:ext cx="1633900" cy="1203444"/>
          </a:xfrm>
          <a:prstGeom prst="rect">
            <a:avLst/>
          </a:prstGeom>
          <a:noFill/>
          <a:ln>
            <a:noFill/>
          </a:ln>
        </p:spPr>
      </p:pic>
      <p:pic>
        <p:nvPicPr>
          <p:cNvPr id="217" name="Google Shape;217;p15"/>
          <p:cNvPicPr preferRelativeResize="0"/>
          <p:nvPr/>
        </p:nvPicPr>
        <p:blipFill rotWithShape="1">
          <a:blip r:embed="rId7">
            <a:alphaModFix/>
          </a:blip>
          <a:srcRect b="64056" l="32510" r="27504" t="9249"/>
          <a:stretch/>
        </p:blipFill>
        <p:spPr>
          <a:xfrm>
            <a:off x="351613" y="826075"/>
            <a:ext cx="1804038" cy="93039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6"/>
          <p:cNvSpPr txBox="1"/>
          <p:nvPr>
            <p:ph idx="4294967295" type="ctrTitle"/>
          </p:nvPr>
        </p:nvSpPr>
        <p:spPr>
          <a:xfrm>
            <a:off x="4246825" y="82525"/>
            <a:ext cx="4731000" cy="467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chemeClr val="dk1"/>
              </a:buClr>
              <a:buSzPts val="2800"/>
              <a:buFont typeface="Montserrat"/>
              <a:buNone/>
            </a:pPr>
            <a:r>
              <a:rPr b="1" i="0" lang="en" sz="1100" u="none" cap="none" strike="noStrike">
                <a:solidFill>
                  <a:schemeClr val="dk1"/>
                </a:solidFill>
                <a:latin typeface="Montserrat"/>
                <a:ea typeface="Montserrat"/>
                <a:cs typeface="Montserrat"/>
                <a:sym typeface="Montserrat"/>
              </a:rPr>
              <a:t>Distributing the mix to the reaction plate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chemeClr val="dk1"/>
                </a:solidFill>
                <a:latin typeface="Montserrat"/>
                <a:ea typeface="Montserrat"/>
                <a:cs typeface="Montserrat"/>
                <a:sym typeface="Montserrat"/>
              </a:rPr>
              <a:t>Pipetting 23ul of the reaction mix to each reaction tube in the plate with the 8 point pipette</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rgbClr val="BC1414"/>
                </a:solidFill>
                <a:latin typeface="Montserrat"/>
                <a:ea typeface="Montserrat"/>
                <a:cs typeface="Montserrat"/>
                <a:sym typeface="Montserrat"/>
              </a:rPr>
              <a:t>Embedded Questions: TBD from Randy</a:t>
            </a:r>
            <a:endParaRPr b="0" i="0" sz="1100" u="none" cap="none" strike="noStrike">
              <a:solidFill>
                <a:schemeClr val="dk1"/>
              </a:solidFill>
              <a:latin typeface="Montserrat"/>
              <a:ea typeface="Montserrat"/>
              <a:cs typeface="Montserrat"/>
              <a:sym typeface="Montserrat"/>
            </a:endParaRPr>
          </a:p>
        </p:txBody>
      </p:sp>
      <p:sp>
        <p:nvSpPr>
          <p:cNvPr id="223" name="Google Shape;223;p16"/>
          <p:cNvSpPr txBox="1"/>
          <p:nvPr/>
        </p:nvSpPr>
        <p:spPr>
          <a:xfrm>
            <a:off x="199213" y="4243525"/>
            <a:ext cx="3970800" cy="743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Interactive Video in EdPuzzle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4 minute</a:t>
            </a:r>
            <a:endParaRPr b="1" i="0" sz="11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4" name="Google Shape;224;p16"/>
          <p:cNvSpPr/>
          <p:nvPr/>
        </p:nvSpPr>
        <p:spPr>
          <a:xfrm>
            <a:off x="199675" y="749875"/>
            <a:ext cx="3970800" cy="3341700"/>
          </a:xfrm>
          <a:prstGeom prst="rect">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Existing video of distributing the mix to the reaction strips</a:t>
            </a:r>
            <a:endParaRPr b="0" i="0" sz="1400" u="none" cap="none" strike="noStrike">
              <a:solidFill>
                <a:srgbClr val="000000"/>
              </a:solidFill>
              <a:latin typeface="Arial"/>
              <a:ea typeface="Arial"/>
              <a:cs typeface="Arial"/>
              <a:sym typeface="Arial"/>
            </a:endParaRPr>
          </a:p>
        </p:txBody>
      </p:sp>
      <p:pic>
        <p:nvPicPr>
          <p:cNvPr id="225" name="Google Shape;225;p16"/>
          <p:cNvPicPr preferRelativeResize="0"/>
          <p:nvPr/>
        </p:nvPicPr>
        <p:blipFill rotWithShape="1">
          <a:blip r:embed="rId3">
            <a:alphaModFix/>
          </a:blip>
          <a:srcRect b="0" l="0" r="0" t="0"/>
          <a:stretch/>
        </p:blipFill>
        <p:spPr>
          <a:xfrm>
            <a:off x="246025" y="1502025"/>
            <a:ext cx="2805451" cy="1967201"/>
          </a:xfrm>
          <a:prstGeom prst="rect">
            <a:avLst/>
          </a:prstGeom>
          <a:noFill/>
          <a:ln>
            <a:noFill/>
          </a:ln>
        </p:spPr>
      </p:pic>
      <p:pic>
        <p:nvPicPr>
          <p:cNvPr id="226" name="Google Shape;226;p16"/>
          <p:cNvPicPr preferRelativeResize="0"/>
          <p:nvPr/>
        </p:nvPicPr>
        <p:blipFill rotWithShape="1">
          <a:blip r:embed="rId4">
            <a:alphaModFix/>
          </a:blip>
          <a:srcRect b="48079" l="62135" r="0" t="8714"/>
          <a:stretch/>
        </p:blipFill>
        <p:spPr>
          <a:xfrm>
            <a:off x="2835525" y="871900"/>
            <a:ext cx="1205224" cy="106239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7"/>
          <p:cNvSpPr txBox="1"/>
          <p:nvPr>
            <p:ph idx="4294967295" type="ctrTitle"/>
          </p:nvPr>
        </p:nvSpPr>
        <p:spPr>
          <a:xfrm>
            <a:off x="4246825" y="82525"/>
            <a:ext cx="4731000" cy="467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chemeClr val="dk1"/>
              </a:buClr>
              <a:buSzPts val="2800"/>
              <a:buFont typeface="Montserrat"/>
              <a:buNone/>
            </a:pPr>
            <a:r>
              <a:rPr b="1" i="0" lang="en" sz="1100" u="none" cap="none" strike="noStrike">
                <a:solidFill>
                  <a:schemeClr val="dk1"/>
                </a:solidFill>
                <a:latin typeface="Montserrat"/>
                <a:ea typeface="Montserrat"/>
                <a:cs typeface="Montserrat"/>
                <a:sym typeface="Montserrat"/>
              </a:rPr>
              <a:t>Adding 2uL of each sample to each reaction tube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chemeClr val="dk1"/>
                </a:solidFill>
                <a:latin typeface="Montserrat"/>
                <a:ea typeface="Montserrat"/>
                <a:cs typeface="Montserrat"/>
                <a:sym typeface="Montserrat"/>
              </a:rPr>
              <a:t>Pipetting 2ul of each sample to each reaction tube in the plate with the 8 channel pipette</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rgbClr val="BC1414"/>
                </a:solidFill>
                <a:latin typeface="Montserrat"/>
                <a:ea typeface="Montserrat"/>
                <a:cs typeface="Montserrat"/>
                <a:sym typeface="Montserrat"/>
              </a:rPr>
              <a:t>Embedded Questions: TBD from Randy</a:t>
            </a:r>
            <a:endParaRPr b="0" i="0" sz="1100" u="none" cap="none" strike="noStrike">
              <a:solidFill>
                <a:schemeClr val="dk1"/>
              </a:solidFill>
              <a:latin typeface="Montserrat"/>
              <a:ea typeface="Montserrat"/>
              <a:cs typeface="Montserrat"/>
              <a:sym typeface="Montserrat"/>
            </a:endParaRPr>
          </a:p>
        </p:txBody>
      </p:sp>
      <p:sp>
        <p:nvSpPr>
          <p:cNvPr id="232" name="Google Shape;232;p17"/>
          <p:cNvSpPr txBox="1"/>
          <p:nvPr/>
        </p:nvSpPr>
        <p:spPr>
          <a:xfrm>
            <a:off x="199213" y="4243525"/>
            <a:ext cx="3970800" cy="743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Interactive Video in EdPuzzle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3 minute</a:t>
            </a:r>
            <a:endParaRPr b="1" i="0" sz="11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3" name="Google Shape;233;p17"/>
          <p:cNvSpPr/>
          <p:nvPr/>
        </p:nvSpPr>
        <p:spPr>
          <a:xfrm>
            <a:off x="199675" y="749875"/>
            <a:ext cx="3970800" cy="3341700"/>
          </a:xfrm>
          <a:prstGeom prst="rect">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Existing video of distributing each sample to each reaction tube</a:t>
            </a:r>
            <a:endParaRPr b="0" i="0" sz="1400" u="none" cap="none" strike="noStrike">
              <a:solidFill>
                <a:srgbClr val="000000"/>
              </a:solidFill>
              <a:latin typeface="Arial"/>
              <a:ea typeface="Arial"/>
              <a:cs typeface="Arial"/>
              <a:sym typeface="Arial"/>
            </a:endParaRPr>
          </a:p>
        </p:txBody>
      </p:sp>
      <p:pic>
        <p:nvPicPr>
          <p:cNvPr id="234" name="Google Shape;234;p17"/>
          <p:cNvPicPr preferRelativeResize="0"/>
          <p:nvPr/>
        </p:nvPicPr>
        <p:blipFill rotWithShape="1">
          <a:blip r:embed="rId3">
            <a:alphaModFix/>
          </a:blip>
          <a:srcRect b="0" l="0" r="0" t="0"/>
          <a:stretch/>
        </p:blipFill>
        <p:spPr>
          <a:xfrm>
            <a:off x="458327" y="1905000"/>
            <a:ext cx="2088100" cy="1520300"/>
          </a:xfrm>
          <a:prstGeom prst="rect">
            <a:avLst/>
          </a:prstGeom>
          <a:noFill/>
          <a:ln>
            <a:noFill/>
          </a:ln>
        </p:spPr>
      </p:pic>
      <p:pic>
        <p:nvPicPr>
          <p:cNvPr id="235" name="Google Shape;235;p17"/>
          <p:cNvPicPr preferRelativeResize="0"/>
          <p:nvPr/>
        </p:nvPicPr>
        <p:blipFill rotWithShape="1">
          <a:blip r:embed="rId4">
            <a:alphaModFix/>
          </a:blip>
          <a:srcRect b="10233" l="53744" r="0" t="41196"/>
          <a:stretch/>
        </p:blipFill>
        <p:spPr>
          <a:xfrm>
            <a:off x="2546425" y="864575"/>
            <a:ext cx="1472350" cy="1194301"/>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8"/>
          <p:cNvSpPr txBox="1"/>
          <p:nvPr>
            <p:ph idx="4294967295" type="ctrTitle"/>
          </p:nvPr>
        </p:nvSpPr>
        <p:spPr>
          <a:xfrm>
            <a:off x="4246825" y="82525"/>
            <a:ext cx="4731000" cy="467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chemeClr val="dk1"/>
              </a:buClr>
              <a:buSzPts val="2800"/>
              <a:buFont typeface="Montserrat"/>
              <a:buNone/>
            </a:pPr>
            <a:r>
              <a:rPr b="1" i="0" lang="en" sz="1100" u="none" cap="none" strike="noStrike">
                <a:solidFill>
                  <a:schemeClr val="dk1"/>
                </a:solidFill>
                <a:latin typeface="Montserrat"/>
                <a:ea typeface="Montserrat"/>
                <a:cs typeface="Montserrat"/>
                <a:sym typeface="Montserrat"/>
              </a:rPr>
              <a:t>Heating the samples with the reaction mix</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rgbClr val="BC1414"/>
                </a:solidFill>
                <a:latin typeface="Montserrat"/>
                <a:ea typeface="Montserrat"/>
                <a:cs typeface="Montserrat"/>
                <a:sym typeface="Montserrat"/>
              </a:rPr>
              <a:t>Embedded Questions: TBD from Randy</a:t>
            </a:r>
            <a:endParaRPr b="0" i="0" sz="1100" u="none" cap="none" strike="noStrike">
              <a:solidFill>
                <a:schemeClr val="dk1"/>
              </a:solidFill>
              <a:latin typeface="Montserrat"/>
              <a:ea typeface="Montserrat"/>
              <a:cs typeface="Montserrat"/>
              <a:sym typeface="Montserrat"/>
            </a:endParaRPr>
          </a:p>
        </p:txBody>
      </p:sp>
      <p:sp>
        <p:nvSpPr>
          <p:cNvPr id="241" name="Google Shape;241;p18"/>
          <p:cNvSpPr txBox="1"/>
          <p:nvPr/>
        </p:nvSpPr>
        <p:spPr>
          <a:xfrm>
            <a:off x="199213" y="4243525"/>
            <a:ext cx="3970800" cy="743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Interactive Video in EdPuzzle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2 minute</a:t>
            </a:r>
            <a:endParaRPr b="1" i="0" sz="11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2" name="Google Shape;242;p18"/>
          <p:cNvSpPr/>
          <p:nvPr/>
        </p:nvSpPr>
        <p:spPr>
          <a:xfrm>
            <a:off x="199675" y="749875"/>
            <a:ext cx="3970800" cy="3341700"/>
          </a:xfrm>
          <a:prstGeom prst="rect">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NEED video of heating in the water bath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9"/>
          <p:cNvSpPr txBox="1"/>
          <p:nvPr>
            <p:ph idx="4294967295" type="ctrTitle"/>
          </p:nvPr>
        </p:nvSpPr>
        <p:spPr>
          <a:xfrm>
            <a:off x="4246825" y="82525"/>
            <a:ext cx="4731000" cy="467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chemeClr val="dk1"/>
              </a:buClr>
              <a:buSzPts val="2800"/>
              <a:buFont typeface="Montserrat"/>
              <a:buNone/>
            </a:pPr>
            <a:r>
              <a:rPr b="1" i="0" lang="en" sz="1100" u="none" cap="none" strike="noStrike">
                <a:solidFill>
                  <a:schemeClr val="dk1"/>
                </a:solidFill>
                <a:latin typeface="Montserrat"/>
                <a:ea typeface="Montserrat"/>
                <a:cs typeface="Montserrat"/>
                <a:sym typeface="Montserrat"/>
              </a:rPr>
              <a:t>Documenting the Results</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rgbClr val="BC1414"/>
                </a:solidFill>
                <a:latin typeface="Montserrat"/>
                <a:ea typeface="Montserrat"/>
                <a:cs typeface="Montserrat"/>
                <a:sym typeface="Montserrat"/>
              </a:rPr>
              <a:t>Embedded Questions: TBD from Randy</a:t>
            </a:r>
            <a:endParaRPr b="0" i="0" sz="1100" u="none" cap="none" strike="noStrike">
              <a:solidFill>
                <a:schemeClr val="dk1"/>
              </a:solidFill>
              <a:latin typeface="Montserrat"/>
              <a:ea typeface="Montserrat"/>
              <a:cs typeface="Montserrat"/>
              <a:sym typeface="Montserrat"/>
            </a:endParaRPr>
          </a:p>
        </p:txBody>
      </p:sp>
      <p:sp>
        <p:nvSpPr>
          <p:cNvPr id="248" name="Google Shape;248;p19"/>
          <p:cNvSpPr txBox="1"/>
          <p:nvPr/>
        </p:nvSpPr>
        <p:spPr>
          <a:xfrm>
            <a:off x="199213" y="4243525"/>
            <a:ext cx="3970800" cy="743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Interactive Video in EdPuzzle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6 minutes</a:t>
            </a:r>
            <a:endParaRPr b="1" i="0" sz="11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9" name="Google Shape;249;p19"/>
          <p:cNvSpPr/>
          <p:nvPr/>
        </p:nvSpPr>
        <p:spPr>
          <a:xfrm>
            <a:off x="199675" y="749875"/>
            <a:ext cx="3970800" cy="3341700"/>
          </a:xfrm>
          <a:prstGeom prst="rect">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NEED new video of documenting the results with lookup rack etc.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0"/>
          <p:cNvSpPr txBox="1"/>
          <p:nvPr/>
        </p:nvSpPr>
        <p:spPr>
          <a:xfrm>
            <a:off x="1645225" y="1593300"/>
            <a:ext cx="6139200" cy="1569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en" sz="3000" u="none" cap="none" strike="noStrike">
                <a:solidFill>
                  <a:srgbClr val="000000"/>
                </a:solidFill>
                <a:latin typeface="Montserrat"/>
                <a:ea typeface="Montserrat"/>
                <a:cs typeface="Montserrat"/>
                <a:sym typeface="Montserrat"/>
              </a:rPr>
              <a:t>After this slide is only Reference or Archive materials</a:t>
            </a:r>
            <a:endParaRPr b="1" i="0" sz="3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1"/>
          <p:cNvSpPr txBox="1"/>
          <p:nvPr>
            <p:ph idx="4294967295" type="ctrTitle"/>
          </p:nvPr>
        </p:nvSpPr>
        <p:spPr>
          <a:xfrm>
            <a:off x="4259425" y="233550"/>
            <a:ext cx="4731000" cy="467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chemeClr val="dk1"/>
              </a:buClr>
              <a:buSzPts val="2800"/>
              <a:buFont typeface="Montserrat"/>
              <a:buNone/>
            </a:pPr>
            <a:r>
              <a:rPr b="1" i="0" lang="en" sz="1100" u="none" cap="none" strike="noStrike">
                <a:solidFill>
                  <a:schemeClr val="dk1"/>
                </a:solidFill>
                <a:latin typeface="Montserrat"/>
                <a:ea typeface="Montserrat"/>
                <a:cs typeface="Montserrat"/>
                <a:sym typeface="Montserrat"/>
              </a:rPr>
              <a:t>Phase 2 or FOR REFERENCE in PHASE 1</a:t>
            </a:r>
            <a:endParaRPr b="1"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t/>
            </a:r>
            <a:endParaRPr b="1" i="0" sz="11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2800"/>
              <a:buFont typeface="Montserrat"/>
              <a:buNone/>
            </a:pPr>
            <a:r>
              <a:rPr b="1" i="0" lang="en" sz="1100" u="none" cap="none" strike="noStrike">
                <a:solidFill>
                  <a:schemeClr val="dk1"/>
                </a:solidFill>
                <a:latin typeface="Montserrat"/>
                <a:ea typeface="Montserrat"/>
                <a:cs typeface="Montserrat"/>
                <a:sym typeface="Montserrat"/>
              </a:rPr>
              <a:t>Standard Kit Parts Checklist</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0" i="0" lang="en" sz="1100" u="none" cap="none" strike="noStrike">
                <a:solidFill>
                  <a:schemeClr val="dk1"/>
                </a:solidFill>
                <a:latin typeface="Montserrat"/>
                <a:ea typeface="Montserrat"/>
                <a:cs typeface="Montserrat"/>
                <a:sym typeface="Montserrat"/>
              </a:rPr>
              <a:t>Show each part and learner confirms they have it</a:t>
            </a:r>
            <a:endParaRPr b="0" i="0" sz="1100" u="none" cap="none" strike="noStrike">
              <a:solidFill>
                <a:schemeClr val="dk1"/>
              </a:solidFill>
              <a:latin typeface="Montserrat"/>
              <a:ea typeface="Montserrat"/>
              <a:cs typeface="Montserrat"/>
              <a:sym typeface="Montserrat"/>
            </a:endParaRPr>
          </a:p>
          <a:p>
            <a:pPr indent="-298450" lvl="1" marL="914400" marR="0" rtl="0" algn="l">
              <a:lnSpc>
                <a:spcPct val="115000"/>
              </a:lnSpc>
              <a:spcBef>
                <a:spcPts val="0"/>
              </a:spcBef>
              <a:spcAft>
                <a:spcPts val="0"/>
              </a:spcAft>
              <a:buClr>
                <a:schemeClr val="dk1"/>
              </a:buClr>
              <a:buSzPts val="1100"/>
              <a:buFont typeface="Montserrat"/>
              <a:buChar char="○"/>
            </a:pPr>
            <a:r>
              <a:rPr b="0" i="0" lang="en" sz="1100" u="none" cap="none" strike="noStrike">
                <a:solidFill>
                  <a:schemeClr val="dk1"/>
                </a:solidFill>
                <a:latin typeface="Montserrat"/>
                <a:ea typeface="Montserrat"/>
                <a:cs typeface="Montserrat"/>
                <a:sym typeface="Montserrat"/>
              </a:rPr>
              <a:t>Picture with Description</a:t>
            </a:r>
            <a:endParaRPr b="0" i="0" sz="1100" u="none" cap="none" strike="noStrike">
              <a:solidFill>
                <a:schemeClr val="dk1"/>
              </a:solidFill>
              <a:latin typeface="Montserrat"/>
              <a:ea typeface="Montserrat"/>
              <a:cs typeface="Montserrat"/>
              <a:sym typeface="Montserrat"/>
            </a:endParaRPr>
          </a:p>
          <a:p>
            <a:pPr indent="-298450" lvl="1" marL="914400" marR="0" rtl="0" algn="l">
              <a:lnSpc>
                <a:spcPct val="115000"/>
              </a:lnSpc>
              <a:spcBef>
                <a:spcPts val="0"/>
              </a:spcBef>
              <a:spcAft>
                <a:spcPts val="0"/>
              </a:spcAft>
              <a:buClr>
                <a:schemeClr val="dk1"/>
              </a:buClr>
              <a:buSzPts val="1100"/>
              <a:buFont typeface="Montserrat"/>
              <a:buChar char="○"/>
            </a:pPr>
            <a:r>
              <a:rPr b="0" i="0" lang="en" sz="1100" u="none" cap="none" strike="noStrike">
                <a:solidFill>
                  <a:srgbClr val="BC1414"/>
                </a:solidFill>
                <a:latin typeface="Montserrat"/>
                <a:ea typeface="Montserrat"/>
                <a:cs typeface="Montserrat"/>
                <a:sym typeface="Montserrat"/>
              </a:rPr>
              <a:t>Embedded Question: Do you have it? (Yes/No)</a:t>
            </a:r>
            <a:endParaRPr b="0" i="0" sz="1100" u="none" cap="none" strike="noStrike">
              <a:solidFill>
                <a:srgbClr val="BC1414"/>
              </a:solidFill>
              <a:latin typeface="Montserrat"/>
              <a:ea typeface="Montserrat"/>
              <a:cs typeface="Montserrat"/>
              <a:sym typeface="Montserrat"/>
            </a:endParaRPr>
          </a:p>
          <a:p>
            <a:pPr indent="-298450" lvl="2" marL="1371600" marR="0" rtl="0" algn="l">
              <a:lnSpc>
                <a:spcPct val="115000"/>
              </a:lnSpc>
              <a:spcBef>
                <a:spcPts val="0"/>
              </a:spcBef>
              <a:spcAft>
                <a:spcPts val="0"/>
              </a:spcAft>
              <a:buClr>
                <a:srgbClr val="BC1414"/>
              </a:buClr>
              <a:buSzPts val="1100"/>
              <a:buFont typeface="Montserrat"/>
              <a:buChar char="■"/>
            </a:pPr>
            <a:r>
              <a:rPr b="0" i="0" lang="en" sz="1100" u="none" cap="none" strike="noStrike">
                <a:solidFill>
                  <a:srgbClr val="BC1414"/>
                </a:solidFill>
                <a:latin typeface="Montserrat"/>
                <a:ea typeface="Montserrat"/>
                <a:cs typeface="Montserrat"/>
                <a:sym typeface="Montserrat"/>
              </a:rPr>
              <a:t>If No, some contact info or method to get it</a:t>
            </a:r>
            <a:endParaRPr b="0" i="0" sz="1100" u="none" cap="none" strike="noStrike">
              <a:solidFill>
                <a:srgbClr val="BC1414"/>
              </a:solidFill>
              <a:latin typeface="Montserrat"/>
              <a:ea typeface="Montserrat"/>
              <a:cs typeface="Montserrat"/>
              <a:sym typeface="Montserrat"/>
            </a:endParaRPr>
          </a:p>
        </p:txBody>
      </p:sp>
      <p:sp>
        <p:nvSpPr>
          <p:cNvPr id="260" name="Google Shape;260;p21"/>
          <p:cNvSpPr txBox="1"/>
          <p:nvPr/>
        </p:nvSpPr>
        <p:spPr>
          <a:xfrm>
            <a:off x="214163" y="3949725"/>
            <a:ext cx="3970800" cy="743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Interactive Video in EdPuzzle</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Voiceover of screencast slides with pictures</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dk1"/>
              </a:buClr>
              <a:buSzPts val="1100"/>
              <a:buFont typeface="Montserrat"/>
              <a:buChar char="●"/>
            </a:pPr>
            <a:r>
              <a:rPr b="1" i="0" lang="en" sz="1100" u="none" cap="none" strike="noStrike">
                <a:solidFill>
                  <a:schemeClr val="dk1"/>
                </a:solidFill>
                <a:latin typeface="Montserrat"/>
                <a:ea typeface="Montserrat"/>
                <a:cs typeface="Montserrat"/>
                <a:sym typeface="Montserrat"/>
              </a:rPr>
              <a:t>3 minutes</a:t>
            </a:r>
            <a:endParaRPr b="0" i="0" sz="1100" u="none" cap="none" strike="noStrike">
              <a:solidFill>
                <a:srgbClr val="000000"/>
              </a:solidFill>
              <a:latin typeface="Arial"/>
              <a:ea typeface="Arial"/>
              <a:cs typeface="Arial"/>
              <a:sym typeface="Arial"/>
            </a:endParaRPr>
          </a:p>
        </p:txBody>
      </p:sp>
      <p:pic>
        <p:nvPicPr>
          <p:cNvPr id="261" name="Google Shape;261;p21"/>
          <p:cNvPicPr preferRelativeResize="0"/>
          <p:nvPr/>
        </p:nvPicPr>
        <p:blipFill rotWithShape="1">
          <a:blip r:embed="rId3">
            <a:alphaModFix/>
          </a:blip>
          <a:srcRect b="0" l="0" r="0" t="0"/>
          <a:stretch/>
        </p:blipFill>
        <p:spPr>
          <a:xfrm>
            <a:off x="2992894" y="954526"/>
            <a:ext cx="1192079" cy="2590074"/>
          </a:xfrm>
          <a:prstGeom prst="rect">
            <a:avLst/>
          </a:prstGeom>
          <a:noFill/>
          <a:ln cap="flat" cmpd="sng" w="9525">
            <a:solidFill>
              <a:schemeClr val="dk2"/>
            </a:solidFill>
            <a:prstDash val="solid"/>
            <a:round/>
            <a:headEnd len="sm" w="sm" type="none"/>
            <a:tailEnd len="sm" w="sm" type="none"/>
          </a:ln>
        </p:spPr>
      </p:pic>
      <p:pic>
        <p:nvPicPr>
          <p:cNvPr id="262" name="Google Shape;262;p21"/>
          <p:cNvPicPr preferRelativeResize="0"/>
          <p:nvPr/>
        </p:nvPicPr>
        <p:blipFill rotWithShape="1">
          <a:blip r:embed="rId4">
            <a:alphaModFix/>
          </a:blip>
          <a:srcRect b="0" l="0" r="0" t="0"/>
          <a:stretch/>
        </p:blipFill>
        <p:spPr>
          <a:xfrm>
            <a:off x="214175" y="954325"/>
            <a:ext cx="2626679" cy="2590073"/>
          </a:xfrm>
          <a:prstGeom prst="rect">
            <a:avLst/>
          </a:prstGeom>
          <a:noFill/>
          <a:ln cap="flat" cmpd="sng" w="9525">
            <a:solidFill>
              <a:schemeClr val="dk2"/>
            </a:solidFill>
            <a:prstDash val="solid"/>
            <a:round/>
            <a:headEnd len="sm" w="sm" type="none"/>
            <a:tailEnd len="sm" w="sm" type="none"/>
          </a:ln>
        </p:spPr>
      </p:pic>
      <p:sp>
        <p:nvSpPr>
          <p:cNvPr id="263" name="Google Shape;263;p21"/>
          <p:cNvSpPr txBox="1"/>
          <p:nvPr/>
        </p:nvSpPr>
        <p:spPr>
          <a:xfrm>
            <a:off x="214175" y="695275"/>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sng" cap="none" strike="noStrike">
                <a:solidFill>
                  <a:schemeClr val="hlink"/>
                </a:solidFill>
                <a:latin typeface="Montserrat"/>
                <a:ea typeface="Montserrat"/>
                <a:cs typeface="Montserrat"/>
                <a:sym typeface="Montserrat"/>
                <a:hlinkClick r:id="rId5"/>
              </a:rPr>
              <a:t>Standard Kit Checklist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2"/>
          <p:cNvSpPr txBox="1"/>
          <p:nvPr/>
        </p:nvSpPr>
        <p:spPr>
          <a:xfrm>
            <a:off x="2680050" y="441700"/>
            <a:ext cx="49875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Montserrat"/>
                <a:ea typeface="Montserrat"/>
                <a:cs typeface="Montserrat"/>
                <a:sym typeface="Montserrat"/>
              </a:rPr>
              <a:t>Remediation If Needed:</a:t>
            </a:r>
            <a:endParaRPr b="1" i="0" sz="24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Montserrat"/>
                <a:ea typeface="Montserrat"/>
                <a:cs typeface="Montserrat"/>
                <a:sym typeface="Montserrat"/>
              </a:rPr>
              <a:t>Pipette Basics - Volumes</a:t>
            </a:r>
            <a:endParaRPr b="1" i="0" sz="2400" u="none" cap="none" strike="noStrike">
              <a:solidFill>
                <a:srgbClr val="000000"/>
              </a:solidFill>
              <a:latin typeface="Montserrat"/>
              <a:ea typeface="Montserrat"/>
              <a:cs typeface="Montserrat"/>
              <a:sym typeface="Montserrat"/>
            </a:endParaRPr>
          </a:p>
        </p:txBody>
      </p:sp>
      <p:pic>
        <p:nvPicPr>
          <p:cNvPr id="269" name="Google Shape;269;p22" title="Video 1_Pipettes.mp4">
            <a:hlinkClick r:id="rId3"/>
          </p:cNvPr>
          <p:cNvPicPr preferRelativeResize="0"/>
          <p:nvPr/>
        </p:nvPicPr>
        <p:blipFill rotWithShape="1">
          <a:blip r:embed="rId4">
            <a:alphaModFix/>
          </a:blip>
          <a:srcRect b="0" l="0" r="0" t="0"/>
          <a:stretch/>
        </p:blipFill>
        <p:spPr>
          <a:xfrm>
            <a:off x="2452125" y="1608325"/>
            <a:ext cx="4745326" cy="2669250"/>
          </a:xfrm>
          <a:prstGeom prst="rect">
            <a:avLst/>
          </a:prstGeom>
          <a:noFill/>
          <a:ln>
            <a:noFill/>
          </a:ln>
        </p:spPr>
      </p:pic>
      <p:sp>
        <p:nvSpPr>
          <p:cNvPr id="270" name="Google Shape;270;p22"/>
          <p:cNvSpPr/>
          <p:nvPr/>
        </p:nvSpPr>
        <p:spPr>
          <a:xfrm>
            <a:off x="1895100" y="4338925"/>
            <a:ext cx="5679600" cy="497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BC1414"/>
                </a:solidFill>
                <a:latin typeface="Arial"/>
                <a:ea typeface="Arial"/>
                <a:cs typeface="Arial"/>
                <a:sym typeface="Arial"/>
              </a:rPr>
              <a:t>Include question: How many microliters equals 1 milliliter? </a:t>
            </a:r>
            <a:endParaRPr b="0" i="0" sz="1400" u="none" cap="none" strike="noStrike">
              <a:solidFill>
                <a:srgbClr val="BC1414"/>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3"/>
          <p:cNvSpPr txBox="1"/>
          <p:nvPr/>
        </p:nvSpPr>
        <p:spPr>
          <a:xfrm>
            <a:off x="2411625" y="441700"/>
            <a:ext cx="5001000" cy="923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rgbClr val="000000"/>
              </a:buClr>
              <a:buSzPts val="2400"/>
              <a:buFont typeface="Montserrat"/>
              <a:buAutoNum type="arabicPeriod" startAt="2"/>
            </a:pPr>
            <a:r>
              <a:rPr b="1" i="0" lang="en" sz="2400" u="none" cap="none" strike="noStrike">
                <a:solidFill>
                  <a:srgbClr val="000000"/>
                </a:solidFill>
                <a:latin typeface="Montserrat"/>
                <a:ea typeface="Montserrat"/>
                <a:cs typeface="Montserrat"/>
                <a:sym typeface="Montserrat"/>
              </a:rPr>
              <a:t>Pipette Basics - How to Use a Pipette</a:t>
            </a:r>
            <a:endParaRPr b="1" i="0" sz="2400" u="none" cap="none" strike="noStrike">
              <a:solidFill>
                <a:srgbClr val="000000"/>
              </a:solidFill>
              <a:latin typeface="Montserrat"/>
              <a:ea typeface="Montserrat"/>
              <a:cs typeface="Montserrat"/>
              <a:sym typeface="Montserrat"/>
            </a:endParaRPr>
          </a:p>
        </p:txBody>
      </p:sp>
      <p:pic>
        <p:nvPicPr>
          <p:cNvPr id="276" name="Google Shape;276;p23" title="Video 2 with CUs.mp4">
            <a:hlinkClick r:id="rId3"/>
          </p:cNvPr>
          <p:cNvPicPr preferRelativeResize="0"/>
          <p:nvPr/>
        </p:nvPicPr>
        <p:blipFill rotWithShape="1">
          <a:blip r:embed="rId4">
            <a:alphaModFix/>
          </a:blip>
          <a:srcRect b="0" l="0" r="0" t="0"/>
          <a:stretch/>
        </p:blipFill>
        <p:spPr>
          <a:xfrm>
            <a:off x="1781850" y="1362050"/>
            <a:ext cx="5580300" cy="3128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000"/>
                                        <p:tgtEl>
                                          <p:spTgt spid="2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4"/>
          <p:cNvSpPr txBox="1"/>
          <p:nvPr/>
        </p:nvSpPr>
        <p:spPr>
          <a:xfrm>
            <a:off x="2411625" y="441700"/>
            <a:ext cx="4987500" cy="923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rgbClr val="000000"/>
              </a:buClr>
              <a:buSzPts val="2400"/>
              <a:buFont typeface="Montserrat"/>
              <a:buAutoNum type="arabicPeriod" startAt="2"/>
            </a:pPr>
            <a:r>
              <a:rPr b="1" i="0" lang="en" sz="2400" u="none" cap="none" strike="noStrike">
                <a:solidFill>
                  <a:srgbClr val="000000"/>
                </a:solidFill>
                <a:latin typeface="Montserrat"/>
                <a:ea typeface="Montserrat"/>
                <a:cs typeface="Montserrat"/>
                <a:sym typeface="Montserrat"/>
              </a:rPr>
              <a:t>Pipette Basics- Pipetting Concerns</a:t>
            </a:r>
            <a:endParaRPr b="1" i="0" sz="2400" u="none" cap="none" strike="noStrike">
              <a:solidFill>
                <a:srgbClr val="000000"/>
              </a:solidFill>
              <a:latin typeface="Montserrat"/>
              <a:ea typeface="Montserrat"/>
              <a:cs typeface="Montserrat"/>
              <a:sym typeface="Montserrat"/>
            </a:endParaRPr>
          </a:p>
        </p:txBody>
      </p:sp>
      <p:pic>
        <p:nvPicPr>
          <p:cNvPr id="282" name="Google Shape;282;p24" title="Video 3 with CUs.mp4">
            <a:hlinkClick r:id="rId3"/>
          </p:cNvPr>
          <p:cNvPicPr preferRelativeResize="0"/>
          <p:nvPr/>
        </p:nvPicPr>
        <p:blipFill rotWithShape="1">
          <a:blip r:embed="rId4">
            <a:alphaModFix/>
          </a:blip>
          <a:srcRect b="0" l="0" r="0" t="0"/>
          <a:stretch/>
        </p:blipFill>
        <p:spPr>
          <a:xfrm>
            <a:off x="1859925" y="1362050"/>
            <a:ext cx="5676100" cy="3224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5"/>
          <p:cNvSpPr txBox="1"/>
          <p:nvPr/>
        </p:nvSpPr>
        <p:spPr>
          <a:xfrm>
            <a:off x="2411625" y="441700"/>
            <a:ext cx="4987500" cy="5541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rgbClr val="000000"/>
              </a:buClr>
              <a:buSzPts val="2400"/>
              <a:buFont typeface="Montserrat"/>
              <a:buAutoNum type="arabicPeriod" startAt="2"/>
            </a:pPr>
            <a:r>
              <a:rPr b="1" i="0" lang="en" sz="2400" u="none" cap="none" strike="noStrike">
                <a:solidFill>
                  <a:srgbClr val="000000"/>
                </a:solidFill>
                <a:latin typeface="Montserrat"/>
                <a:ea typeface="Montserrat"/>
                <a:cs typeface="Montserrat"/>
                <a:sym typeface="Montserrat"/>
              </a:rPr>
              <a:t>The Basics- Tube Prep</a:t>
            </a:r>
            <a:endParaRPr b="1" i="0" sz="2400" u="none" cap="none" strike="noStrike">
              <a:solidFill>
                <a:srgbClr val="000000"/>
              </a:solidFill>
              <a:latin typeface="Montserrat"/>
              <a:ea typeface="Montserrat"/>
              <a:cs typeface="Montserrat"/>
              <a:sym typeface="Montserrat"/>
            </a:endParaRPr>
          </a:p>
        </p:txBody>
      </p:sp>
      <p:pic>
        <p:nvPicPr>
          <p:cNvPr id="288" name="Google Shape;288;p25" title="Video 4 Tube Prep.mp4">
            <a:hlinkClick r:id="rId3"/>
          </p:cNvPr>
          <p:cNvPicPr preferRelativeResize="0"/>
          <p:nvPr/>
        </p:nvPicPr>
        <p:blipFill rotWithShape="1">
          <a:blip r:embed="rId4">
            <a:alphaModFix/>
          </a:blip>
          <a:srcRect b="0" l="0" r="0" t="0"/>
          <a:stretch/>
        </p:blipFill>
        <p:spPr>
          <a:xfrm>
            <a:off x="1600375" y="1321400"/>
            <a:ext cx="5798750" cy="3332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6"/>
          <p:cNvSpPr/>
          <p:nvPr/>
        </p:nvSpPr>
        <p:spPr>
          <a:xfrm>
            <a:off x="0" y="4979100"/>
            <a:ext cx="9144000" cy="164400"/>
          </a:xfrm>
          <a:prstGeom prst="rect">
            <a:avLst/>
          </a:prstGeom>
          <a:solidFill>
            <a:srgbClr val="BC141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6"/>
          <p:cNvSpPr/>
          <p:nvPr/>
        </p:nvSpPr>
        <p:spPr>
          <a:xfrm>
            <a:off x="75" y="5060375"/>
            <a:ext cx="9144000" cy="88200"/>
          </a:xfrm>
          <a:prstGeom prst="rect">
            <a:avLst/>
          </a:prstGeom>
          <a:solidFill>
            <a:srgbClr val="4284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6"/>
          <p:cNvSpPr txBox="1"/>
          <p:nvPr/>
        </p:nvSpPr>
        <p:spPr>
          <a:xfrm>
            <a:off x="254275" y="623275"/>
            <a:ext cx="7266600" cy="1139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Pull questions from these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30200" lvl="0" marL="457200" marR="0" rtl="0" algn="l">
              <a:lnSpc>
                <a:spcPct val="100000"/>
              </a:lnSpc>
              <a:spcBef>
                <a:spcPts val="0"/>
              </a:spcBef>
              <a:spcAft>
                <a:spcPts val="0"/>
              </a:spcAft>
              <a:buClr>
                <a:srgbClr val="000000"/>
              </a:buClr>
              <a:buSzPts val="1600"/>
              <a:buFont typeface="Arial"/>
              <a:buChar char="●"/>
            </a:pPr>
            <a:r>
              <a:rPr b="0" i="0" lang="en" sz="1600" u="sng" cap="none" strike="noStrike">
                <a:solidFill>
                  <a:schemeClr val="hlink"/>
                </a:solidFill>
                <a:latin typeface="Arial"/>
                <a:ea typeface="Arial"/>
                <a:cs typeface="Arial"/>
                <a:sym typeface="Arial"/>
                <a:hlinkClick r:id="rId3"/>
              </a:rPr>
              <a:t>Pipette Step-by-Step from Scratch</a:t>
            </a:r>
            <a:endParaRPr b="0" i="0" sz="1400" u="none" cap="none" strike="noStrike">
              <a:solidFill>
                <a:srgbClr val="000000"/>
              </a:solidFill>
              <a:latin typeface="Arial"/>
              <a:ea typeface="Arial"/>
              <a:cs typeface="Arial"/>
              <a:sym typeface="Arial"/>
            </a:endParaRPr>
          </a:p>
          <a:p>
            <a:pPr indent="-330200" lvl="0" marL="457200" marR="0" rtl="0" algn="l">
              <a:lnSpc>
                <a:spcPct val="100000"/>
              </a:lnSpc>
              <a:spcBef>
                <a:spcPts val="0"/>
              </a:spcBef>
              <a:spcAft>
                <a:spcPts val="0"/>
              </a:spcAft>
              <a:buClr>
                <a:srgbClr val="000000"/>
              </a:buClr>
              <a:buSzPts val="1600"/>
              <a:buFont typeface="Arial"/>
              <a:buChar char="●"/>
            </a:pPr>
            <a:r>
              <a:rPr b="0" i="0" lang="en" sz="1600" u="sng" cap="none" strike="noStrike">
                <a:solidFill>
                  <a:schemeClr val="hlink"/>
                </a:solidFill>
                <a:latin typeface="Arial"/>
                <a:ea typeface="Arial"/>
                <a:cs typeface="Arial"/>
                <a:sym typeface="Arial"/>
                <a:hlinkClick r:id="rId4"/>
              </a:rPr>
              <a:t>What Ifs?</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