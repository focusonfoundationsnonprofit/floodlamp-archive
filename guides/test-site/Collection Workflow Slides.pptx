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2D2D916-1956-463D-BDC4-5177929CEB34}">
  <a:tblStyle styleId="{A2D2D916-1956-463D-BDC4-5177929CEB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80138914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80138914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8013891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8013891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701445b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701445b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6b82fcd5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6b82fcd5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e701445b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e701445b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e9d6d70d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e9d6d70d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701445bc5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701445bc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com/gp/product/B002BA5F52/ref=ppx_yo_dt_b_search_asin_title?ie=UTF8&amp;psc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8500" y="1215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71500" y="461700"/>
            <a:ext cx="64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Site1</a:t>
            </a:r>
            <a:endParaRPr b="1" sz="1200"/>
          </a:p>
        </p:txBody>
      </p:sp>
      <p:sp>
        <p:nvSpPr>
          <p:cNvPr id="56" name="Google Shape;56;p13"/>
          <p:cNvSpPr txBox="1"/>
          <p:nvPr/>
        </p:nvSpPr>
        <p:spPr>
          <a:xfrm>
            <a:off x="6158875" y="1873450"/>
            <a:ext cx="78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Site2</a:t>
            </a:r>
            <a:endParaRPr b="1" sz="1200"/>
          </a:p>
        </p:txBody>
      </p:sp>
      <p:sp>
        <p:nvSpPr>
          <p:cNvPr id="57" name="Google Shape;57;p13"/>
          <p:cNvSpPr txBox="1"/>
          <p:nvPr/>
        </p:nvSpPr>
        <p:spPr>
          <a:xfrm>
            <a:off x="4603063" y="3329775"/>
            <a:ext cx="85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Site3</a:t>
            </a:r>
            <a:endParaRPr b="1" sz="1200"/>
          </a:p>
        </p:txBody>
      </p:sp>
      <p:sp>
        <p:nvSpPr>
          <p:cNvPr id="58" name="Google Shape;58;p13"/>
          <p:cNvSpPr/>
          <p:nvPr/>
        </p:nvSpPr>
        <p:spPr>
          <a:xfrm>
            <a:off x="7617700" y="1772400"/>
            <a:ext cx="1275000" cy="13080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Intake</a:t>
            </a:r>
            <a:endParaRPr/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Process</a:t>
            </a:r>
            <a:endParaRPr/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Result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7612225" y="1338575"/>
            <a:ext cx="127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Lab</a:t>
            </a:r>
            <a:endParaRPr b="1" sz="1200"/>
          </a:p>
        </p:txBody>
      </p:sp>
      <p:cxnSp>
        <p:nvCxnSpPr>
          <p:cNvPr id="60" name="Google Shape;60;p13"/>
          <p:cNvCxnSpPr>
            <a:stCxn id="61" idx="3"/>
            <a:endCxn id="58" idx="1"/>
          </p:cNvCxnSpPr>
          <p:nvPr/>
        </p:nvCxnSpPr>
        <p:spPr>
          <a:xfrm>
            <a:off x="5901600" y="1397094"/>
            <a:ext cx="1716000" cy="10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" name="Google Shape;62;p13"/>
          <p:cNvCxnSpPr>
            <a:stCxn id="63" idx="3"/>
            <a:endCxn id="58" idx="1"/>
          </p:cNvCxnSpPr>
          <p:nvPr/>
        </p:nvCxnSpPr>
        <p:spPr>
          <a:xfrm flipH="1" rot="10800000">
            <a:off x="6639026" y="2426470"/>
            <a:ext cx="978600" cy="38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" name="Google Shape;64;p13"/>
          <p:cNvCxnSpPr>
            <a:stCxn id="65" idx="3"/>
            <a:endCxn id="58" idx="1"/>
          </p:cNvCxnSpPr>
          <p:nvPr/>
        </p:nvCxnSpPr>
        <p:spPr>
          <a:xfrm flipH="1" rot="10800000">
            <a:off x="5826050" y="2426494"/>
            <a:ext cx="1791600" cy="187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" name="Google Shape;66;p13"/>
          <p:cNvSpPr txBox="1"/>
          <p:nvPr/>
        </p:nvSpPr>
        <p:spPr>
          <a:xfrm>
            <a:off x="224700" y="675900"/>
            <a:ext cx="3948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1371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Self-swabbing by all participants according to procedures approved by medical director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Pools of 2 to 4 participants, preferably 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Accessioning of who's in each pool done at time of collection with FloodLAMP Mobile App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participants must first sign Consent stating they understand limitations of non-diagnostic surveillance testing and agree to participate in program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Distributed collection done at several sites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Collected tubes are aggregated at each site, with a cutoff time for tubes being in the bins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137160" rtl="0" algn="l">
              <a:spcBef>
                <a:spcPts val="600"/>
              </a:spcBef>
              <a:spcAft>
                <a:spcPts val="60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Tubes from each site are transported to the Lab for processing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100" y="784712"/>
            <a:ext cx="1471500" cy="122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526" y="2202288"/>
            <a:ext cx="1471500" cy="122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550" y="3687912"/>
            <a:ext cx="1471500" cy="1224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5405174" y="547422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 rotWithShape="1">
          <a:blip r:embed="rId4">
            <a:alphaModFix/>
          </a:blip>
          <a:srcRect b="0" l="2821" r="2821" t="0"/>
          <a:stretch/>
        </p:blipFill>
        <p:spPr>
          <a:xfrm>
            <a:off x="5405174" y="1586077"/>
            <a:ext cx="234017" cy="28151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5876725" y="488100"/>
            <a:ext cx="301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</a:t>
            </a:r>
            <a:endParaRPr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provides sample to pool</a:t>
            </a:r>
            <a:endParaRPr sz="1200"/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405174" y="3278577"/>
            <a:ext cx="234017" cy="28151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48500" y="1215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Roles at a Site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876725" y="1554900"/>
            <a:ext cx="3094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</a:t>
            </a:r>
            <a:endParaRPr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add Participants to pool list in FloodLAMP Mobile App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returns collected tubes to "site return bin”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reports anomalies to Site Coordinator</a:t>
            </a:r>
            <a:endParaRPr sz="1200"/>
          </a:p>
        </p:txBody>
      </p:sp>
      <p:sp>
        <p:nvSpPr>
          <p:cNvPr id="77" name="Google Shape;77;p14"/>
          <p:cNvSpPr txBox="1"/>
          <p:nvPr/>
        </p:nvSpPr>
        <p:spPr>
          <a:xfrm>
            <a:off x="5876725" y="3231300"/>
            <a:ext cx="3094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 COORDINATOR</a:t>
            </a:r>
            <a:endParaRPr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organizes Sponsors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verifies expected people are participating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ensures timing and schedule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coordinates transport to lab</a:t>
            </a:r>
            <a:endParaRPr sz="1200"/>
          </a:p>
          <a:p>
            <a:pPr indent="-167640" lvl="0" marL="32004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records problems and follows up w Admin</a:t>
            </a:r>
            <a:endParaRPr sz="1200"/>
          </a:p>
        </p:txBody>
      </p:sp>
      <p:sp>
        <p:nvSpPr>
          <p:cNvPr id="78" name="Google Shape;78;p14"/>
          <p:cNvSpPr/>
          <p:nvPr/>
        </p:nvSpPr>
        <p:spPr>
          <a:xfrm>
            <a:off x="432000" y="854700"/>
            <a:ext cx="4005300" cy="32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 rotWithShape="1">
          <a:blip r:embed="rId5">
            <a:alphaModFix/>
          </a:blip>
          <a:srcRect b="0" l="-11006" r="-2811" t="0"/>
          <a:stretch/>
        </p:blipFill>
        <p:spPr>
          <a:xfrm>
            <a:off x="3404050" y="1432100"/>
            <a:ext cx="610775" cy="6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3149225" y="2289650"/>
            <a:ext cx="1070700" cy="60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 Return Bin</a:t>
            </a:r>
            <a:endParaRPr/>
          </a:p>
        </p:txBody>
      </p:sp>
      <p:cxnSp>
        <p:nvCxnSpPr>
          <p:cNvPr id="81" name="Google Shape;81;p14"/>
          <p:cNvCxnSpPr>
            <a:stCxn id="82" idx="3"/>
            <a:endCxn id="80" idx="1"/>
          </p:cNvCxnSpPr>
          <p:nvPr/>
        </p:nvCxnSpPr>
        <p:spPr>
          <a:xfrm>
            <a:off x="2265319" y="1230335"/>
            <a:ext cx="883800" cy="13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" name="Google Shape;83;p14"/>
          <p:cNvCxnSpPr>
            <a:stCxn id="84" idx="3"/>
            <a:endCxn id="80" idx="1"/>
          </p:cNvCxnSpPr>
          <p:nvPr/>
        </p:nvCxnSpPr>
        <p:spPr>
          <a:xfrm>
            <a:off x="2265319" y="2264881"/>
            <a:ext cx="8838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5" name="Google Shape;85;p14"/>
          <p:cNvCxnSpPr>
            <a:stCxn id="86" idx="3"/>
            <a:endCxn id="80" idx="1"/>
          </p:cNvCxnSpPr>
          <p:nvPr/>
        </p:nvCxnSpPr>
        <p:spPr>
          <a:xfrm flipH="1" rot="10800000">
            <a:off x="2265319" y="2594281"/>
            <a:ext cx="883800" cy="7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87" name="Google Shape;87;p14"/>
          <p:cNvPicPr preferRelativeResize="0"/>
          <p:nvPr/>
        </p:nvPicPr>
        <p:blipFill rotWithShape="1">
          <a:blip r:embed="rId4">
            <a:alphaModFix/>
          </a:blip>
          <a:srcRect b="0" l="2821" r="2821" t="0"/>
          <a:stretch/>
        </p:blipFill>
        <p:spPr>
          <a:xfrm>
            <a:off x="907041" y="1595952"/>
            <a:ext cx="234017" cy="28151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 rot="-1308">
            <a:off x="627569" y="2021978"/>
            <a:ext cx="78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collects in app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4"/>
          <p:cNvCxnSpPr>
            <a:stCxn id="88" idx="0"/>
            <a:endCxn id="87" idx="2"/>
          </p:cNvCxnSpPr>
          <p:nvPr/>
        </p:nvCxnSpPr>
        <p:spPr>
          <a:xfrm flipH="1" rot="10800000">
            <a:off x="1021919" y="1877378"/>
            <a:ext cx="2100" cy="14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2" name="Google Shape;82;p14"/>
          <p:cNvPicPr preferRelativeResize="0"/>
          <p:nvPr/>
        </p:nvPicPr>
        <p:blipFill rotWithShape="1">
          <a:blip r:embed="rId6">
            <a:alphaModFix/>
          </a:blip>
          <a:srcRect b="0" l="0" r="10" t="-9601"/>
          <a:stretch/>
        </p:blipFill>
        <p:spPr>
          <a:xfrm>
            <a:off x="2143904" y="1027924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224528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832213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528370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4"/>
          <p:cNvCxnSpPr>
            <a:stCxn id="91" idx="0"/>
            <a:endCxn id="82" idx="1"/>
          </p:cNvCxnSpPr>
          <p:nvPr/>
        </p:nvCxnSpPr>
        <p:spPr>
          <a:xfrm flipH="1" rot="10800000">
            <a:off x="1949221" y="1230235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" name="Google Shape;94;p14"/>
          <p:cNvCxnSpPr>
            <a:stCxn id="92" idx="0"/>
            <a:endCxn id="82" idx="1"/>
          </p:cNvCxnSpPr>
          <p:nvPr/>
        </p:nvCxnSpPr>
        <p:spPr>
          <a:xfrm flipH="1" rot="10800000">
            <a:off x="1645379" y="1230235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" name="Google Shape;95;p14"/>
          <p:cNvCxnSpPr>
            <a:stCxn id="90" idx="0"/>
            <a:endCxn id="82" idx="1"/>
          </p:cNvCxnSpPr>
          <p:nvPr/>
        </p:nvCxnSpPr>
        <p:spPr>
          <a:xfrm flipH="1" rot="10800000">
            <a:off x="1341537" y="1230235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" name="Google Shape;96;p14"/>
          <p:cNvCxnSpPr>
            <a:stCxn id="87" idx="0"/>
            <a:endCxn id="82" idx="1"/>
          </p:cNvCxnSpPr>
          <p:nvPr/>
        </p:nvCxnSpPr>
        <p:spPr>
          <a:xfrm flipH="1" rot="10800000">
            <a:off x="1024050" y="1230252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7" name="Google Shape;97;p14"/>
          <p:cNvSpPr txBox="1"/>
          <p:nvPr/>
        </p:nvSpPr>
        <p:spPr>
          <a:xfrm rot="-1173207">
            <a:off x="1306739" y="1250095"/>
            <a:ext cx="622075" cy="12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swab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4"/>
          <p:cNvSpPr txBox="1"/>
          <p:nvPr/>
        </p:nvSpPr>
        <p:spPr>
          <a:xfrm rot="931">
            <a:off x="1659033" y="912973"/>
            <a:ext cx="110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pool tube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2821" r="2821" t="0"/>
          <a:stretch/>
        </p:blipFill>
        <p:spPr>
          <a:xfrm>
            <a:off x="907041" y="2630498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 rotWithShape="1">
          <a:blip r:embed="rId6">
            <a:alphaModFix/>
          </a:blip>
          <a:srcRect b="0" l="0" r="10" t="-9601"/>
          <a:stretch/>
        </p:blipFill>
        <p:spPr>
          <a:xfrm>
            <a:off x="2143904" y="2062470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224528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832213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528370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14"/>
          <p:cNvCxnSpPr>
            <a:stCxn id="101" idx="0"/>
            <a:endCxn id="84" idx="1"/>
          </p:cNvCxnSpPr>
          <p:nvPr/>
        </p:nvCxnSpPr>
        <p:spPr>
          <a:xfrm flipH="1" rot="10800000">
            <a:off x="1949221" y="2264781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" name="Google Shape;104;p14"/>
          <p:cNvCxnSpPr>
            <a:stCxn id="102" idx="0"/>
            <a:endCxn id="84" idx="1"/>
          </p:cNvCxnSpPr>
          <p:nvPr/>
        </p:nvCxnSpPr>
        <p:spPr>
          <a:xfrm flipH="1" rot="10800000">
            <a:off x="1645379" y="2264781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" name="Google Shape;105;p14"/>
          <p:cNvCxnSpPr>
            <a:stCxn id="100" idx="0"/>
            <a:endCxn id="84" idx="1"/>
          </p:cNvCxnSpPr>
          <p:nvPr/>
        </p:nvCxnSpPr>
        <p:spPr>
          <a:xfrm flipH="1" rot="10800000">
            <a:off x="1341537" y="2264781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" name="Google Shape;106;p14"/>
          <p:cNvCxnSpPr>
            <a:stCxn id="99" idx="0"/>
            <a:endCxn id="84" idx="1"/>
          </p:cNvCxnSpPr>
          <p:nvPr/>
        </p:nvCxnSpPr>
        <p:spPr>
          <a:xfrm flipH="1" rot="10800000">
            <a:off x="1024050" y="2264798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2821" r="2821" t="0"/>
          <a:stretch/>
        </p:blipFill>
        <p:spPr>
          <a:xfrm>
            <a:off x="907041" y="3697298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/>
          <p:cNvPicPr preferRelativeResize="0"/>
          <p:nvPr/>
        </p:nvPicPr>
        <p:blipFill rotWithShape="1">
          <a:blip r:embed="rId6">
            <a:alphaModFix/>
          </a:blip>
          <a:srcRect b="0" l="0" r="10" t="-9601"/>
          <a:stretch/>
        </p:blipFill>
        <p:spPr>
          <a:xfrm>
            <a:off x="2143904" y="3129270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224528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832213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2821" r="2821" t="0"/>
          <a:stretch/>
        </p:blipFill>
        <p:spPr>
          <a:xfrm>
            <a:off x="1528370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4"/>
          <p:cNvCxnSpPr>
            <a:stCxn id="109" idx="0"/>
            <a:endCxn id="86" idx="1"/>
          </p:cNvCxnSpPr>
          <p:nvPr/>
        </p:nvCxnSpPr>
        <p:spPr>
          <a:xfrm flipH="1" rot="10800000">
            <a:off x="1949221" y="3331581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14"/>
          <p:cNvCxnSpPr>
            <a:stCxn id="110" idx="0"/>
            <a:endCxn id="86" idx="1"/>
          </p:cNvCxnSpPr>
          <p:nvPr/>
        </p:nvCxnSpPr>
        <p:spPr>
          <a:xfrm flipH="1" rot="10800000">
            <a:off x="1645379" y="3331581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p14"/>
          <p:cNvCxnSpPr>
            <a:stCxn id="108" idx="0"/>
            <a:endCxn id="86" idx="1"/>
          </p:cNvCxnSpPr>
          <p:nvPr/>
        </p:nvCxnSpPr>
        <p:spPr>
          <a:xfrm flipH="1" rot="10800000">
            <a:off x="1341537" y="3331581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" name="Google Shape;114;p14"/>
          <p:cNvCxnSpPr>
            <a:stCxn id="107" idx="0"/>
            <a:endCxn id="86" idx="1"/>
          </p:cNvCxnSpPr>
          <p:nvPr/>
        </p:nvCxnSpPr>
        <p:spPr>
          <a:xfrm flipH="1" rot="10800000">
            <a:off x="1024050" y="3331598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4814911" y="854725"/>
            <a:ext cx="4005300" cy="32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32000" y="854700"/>
            <a:ext cx="4005300" cy="325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-11006" r="-2811" t="0"/>
          <a:stretch/>
        </p:blipFill>
        <p:spPr>
          <a:xfrm>
            <a:off x="3404050" y="1432100"/>
            <a:ext cx="610775" cy="6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3149225" y="2289650"/>
            <a:ext cx="1070700" cy="60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 Return Bin</a:t>
            </a:r>
            <a:endParaRPr/>
          </a:p>
        </p:txBody>
      </p:sp>
      <p:cxnSp>
        <p:nvCxnSpPr>
          <p:cNvPr id="123" name="Google Shape;123;p15"/>
          <p:cNvCxnSpPr>
            <a:stCxn id="124" idx="3"/>
            <a:endCxn id="122" idx="1"/>
          </p:cNvCxnSpPr>
          <p:nvPr/>
        </p:nvCxnSpPr>
        <p:spPr>
          <a:xfrm>
            <a:off x="2265319" y="1230335"/>
            <a:ext cx="883800" cy="13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" name="Google Shape;125;p15"/>
          <p:cNvCxnSpPr>
            <a:stCxn id="126" idx="3"/>
            <a:endCxn id="122" idx="1"/>
          </p:cNvCxnSpPr>
          <p:nvPr/>
        </p:nvCxnSpPr>
        <p:spPr>
          <a:xfrm>
            <a:off x="2265319" y="2264881"/>
            <a:ext cx="883800" cy="32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" name="Google Shape;127;p15"/>
          <p:cNvCxnSpPr>
            <a:stCxn id="128" idx="3"/>
            <a:endCxn id="122" idx="1"/>
          </p:cNvCxnSpPr>
          <p:nvPr/>
        </p:nvCxnSpPr>
        <p:spPr>
          <a:xfrm flipH="1" rot="10800000">
            <a:off x="2265319" y="2594281"/>
            <a:ext cx="883800" cy="73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15"/>
          <p:cNvSpPr txBox="1"/>
          <p:nvPr/>
        </p:nvSpPr>
        <p:spPr>
          <a:xfrm>
            <a:off x="463275" y="227625"/>
            <a:ext cx="366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Standard Sponsor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-11006" r="-2811" t="0"/>
          <a:stretch/>
        </p:blipFill>
        <p:spPr>
          <a:xfrm>
            <a:off x="7786961" y="1432100"/>
            <a:ext cx="610775" cy="6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6875561" y="1027924"/>
            <a:ext cx="121415" cy="40482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7532136" y="2289650"/>
            <a:ext cx="1070700" cy="60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Site Return Bin</a:t>
            </a:r>
            <a:endParaRPr/>
          </a:p>
        </p:txBody>
      </p:sp>
      <p:cxnSp>
        <p:nvCxnSpPr>
          <p:cNvPr id="133" name="Google Shape;133;p15"/>
          <p:cNvCxnSpPr>
            <a:stCxn id="131" idx="3"/>
            <a:endCxn id="132" idx="1"/>
          </p:cNvCxnSpPr>
          <p:nvPr/>
        </p:nvCxnSpPr>
        <p:spPr>
          <a:xfrm>
            <a:off x="6996976" y="1230335"/>
            <a:ext cx="535200" cy="136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" name="Google Shape;134;p15"/>
          <p:cNvCxnSpPr>
            <a:stCxn id="135" idx="3"/>
            <a:endCxn id="132" idx="1"/>
          </p:cNvCxnSpPr>
          <p:nvPr/>
        </p:nvCxnSpPr>
        <p:spPr>
          <a:xfrm>
            <a:off x="6996936" y="2297150"/>
            <a:ext cx="535200" cy="29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" name="Google Shape;136;p15"/>
          <p:cNvCxnSpPr>
            <a:stCxn id="137" idx="3"/>
            <a:endCxn id="132" idx="1"/>
          </p:cNvCxnSpPr>
          <p:nvPr/>
        </p:nvCxnSpPr>
        <p:spPr>
          <a:xfrm flipH="1" rot="10800000">
            <a:off x="6996976" y="2594135"/>
            <a:ext cx="535200" cy="7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" name="Google Shape;138;p15"/>
          <p:cNvSpPr txBox="1"/>
          <p:nvPr/>
        </p:nvSpPr>
        <p:spPr>
          <a:xfrm>
            <a:off x="4846186" y="227625"/>
            <a:ext cx="366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Super Sponsor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956185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 rotWithShape="1">
          <a:blip r:embed="rId6">
            <a:alphaModFix/>
          </a:blip>
          <a:srcRect b="0" l="2821" r="2821" t="0"/>
          <a:stretch/>
        </p:blipFill>
        <p:spPr>
          <a:xfrm>
            <a:off x="4903377" y="2453390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563870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260027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5"/>
          <p:cNvCxnSpPr>
            <a:stCxn id="141" idx="0"/>
            <a:endCxn id="131" idx="1"/>
          </p:cNvCxnSpPr>
          <p:nvPr/>
        </p:nvCxnSpPr>
        <p:spPr>
          <a:xfrm flipH="1" rot="10800000">
            <a:off x="6680878" y="1230235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15"/>
          <p:cNvCxnSpPr>
            <a:stCxn id="142" idx="0"/>
            <a:endCxn id="131" idx="1"/>
          </p:cNvCxnSpPr>
          <p:nvPr/>
        </p:nvCxnSpPr>
        <p:spPr>
          <a:xfrm flipH="1" rot="10800000">
            <a:off x="6377036" y="1230235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15"/>
          <p:cNvCxnSpPr>
            <a:stCxn id="139" idx="0"/>
            <a:endCxn id="131" idx="1"/>
          </p:cNvCxnSpPr>
          <p:nvPr/>
        </p:nvCxnSpPr>
        <p:spPr>
          <a:xfrm flipH="1" rot="10800000">
            <a:off x="6073194" y="1230235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6" name="Google Shape;146;p15"/>
          <p:cNvCxnSpPr>
            <a:stCxn id="147" idx="0"/>
            <a:endCxn id="131" idx="1"/>
          </p:cNvCxnSpPr>
          <p:nvPr/>
        </p:nvCxnSpPr>
        <p:spPr>
          <a:xfrm flipH="1" rot="10800000">
            <a:off x="5768394" y="1230235"/>
            <a:ext cx="11073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47" name="Google Shape;147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651385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15"/>
          <p:cNvCxnSpPr>
            <a:stCxn id="140" idx="3"/>
          </p:cNvCxnSpPr>
          <p:nvPr/>
        </p:nvCxnSpPr>
        <p:spPr>
          <a:xfrm flipH="1" rot="10800000">
            <a:off x="5137394" y="1758947"/>
            <a:ext cx="466200" cy="83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5"/>
          <p:cNvCxnSpPr>
            <a:stCxn id="140" idx="3"/>
          </p:cNvCxnSpPr>
          <p:nvPr/>
        </p:nvCxnSpPr>
        <p:spPr>
          <a:xfrm>
            <a:off x="5137394" y="2594147"/>
            <a:ext cx="453000" cy="18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5"/>
          <p:cNvCxnSpPr>
            <a:stCxn id="140" idx="3"/>
          </p:cNvCxnSpPr>
          <p:nvPr/>
        </p:nvCxnSpPr>
        <p:spPr>
          <a:xfrm>
            <a:off x="5137394" y="2594147"/>
            <a:ext cx="512700" cy="1156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5"/>
          <p:cNvSpPr txBox="1"/>
          <p:nvPr/>
        </p:nvSpPr>
        <p:spPr>
          <a:xfrm>
            <a:off x="4846175" y="4190025"/>
            <a:ext cx="4168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Super Sponsor can collect anyone without approval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Super Sponsor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can also be in pool themselves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6">
            <a:alphaModFix/>
          </a:blip>
          <a:srcRect b="0" l="2821" r="2821" t="0"/>
          <a:stretch/>
        </p:blipFill>
        <p:spPr>
          <a:xfrm>
            <a:off x="907041" y="1595952"/>
            <a:ext cx="234017" cy="28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 rot="-3639959">
            <a:off x="4865603" y="2047124"/>
            <a:ext cx="788732" cy="12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collects in app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 rot="-1173207">
            <a:off x="6038396" y="1250095"/>
            <a:ext cx="622075" cy="12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swab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6875561" y="2094724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956185" y="26627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563870" y="26627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260027" y="26627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5"/>
          <p:cNvCxnSpPr>
            <a:stCxn id="157" idx="0"/>
            <a:endCxn id="155" idx="1"/>
          </p:cNvCxnSpPr>
          <p:nvPr/>
        </p:nvCxnSpPr>
        <p:spPr>
          <a:xfrm flipH="1" rot="10800000">
            <a:off x="6680878" y="2297035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0" name="Google Shape;160;p15"/>
          <p:cNvCxnSpPr>
            <a:stCxn id="158" idx="0"/>
            <a:endCxn id="155" idx="1"/>
          </p:cNvCxnSpPr>
          <p:nvPr/>
        </p:nvCxnSpPr>
        <p:spPr>
          <a:xfrm flipH="1" rot="10800000">
            <a:off x="6377036" y="2297035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1" name="Google Shape;161;p15"/>
          <p:cNvCxnSpPr>
            <a:stCxn id="156" idx="0"/>
            <a:endCxn id="155" idx="1"/>
          </p:cNvCxnSpPr>
          <p:nvPr/>
        </p:nvCxnSpPr>
        <p:spPr>
          <a:xfrm flipH="1" rot="10800000">
            <a:off x="6073194" y="2297035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15"/>
          <p:cNvCxnSpPr>
            <a:stCxn id="163" idx="0"/>
            <a:endCxn id="155" idx="1"/>
          </p:cNvCxnSpPr>
          <p:nvPr/>
        </p:nvCxnSpPr>
        <p:spPr>
          <a:xfrm flipH="1" rot="10800000">
            <a:off x="5768394" y="2297035"/>
            <a:ext cx="11073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63" name="Google Shape;163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651385" y="26627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6875561" y="3161524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956185" y="37295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563870" y="37295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6260027" y="37295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15"/>
          <p:cNvCxnSpPr>
            <a:stCxn id="165" idx="0"/>
            <a:endCxn id="137" idx="1"/>
          </p:cNvCxnSpPr>
          <p:nvPr/>
        </p:nvCxnSpPr>
        <p:spPr>
          <a:xfrm flipH="1" rot="10800000">
            <a:off x="6680878" y="3363835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15"/>
          <p:cNvCxnSpPr>
            <a:stCxn id="166" idx="0"/>
            <a:endCxn id="137" idx="1"/>
          </p:cNvCxnSpPr>
          <p:nvPr/>
        </p:nvCxnSpPr>
        <p:spPr>
          <a:xfrm flipH="1" rot="10800000">
            <a:off x="6377036" y="3363835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9" name="Google Shape;169;p15"/>
          <p:cNvCxnSpPr>
            <a:stCxn id="164" idx="0"/>
            <a:endCxn id="137" idx="1"/>
          </p:cNvCxnSpPr>
          <p:nvPr/>
        </p:nvCxnSpPr>
        <p:spPr>
          <a:xfrm flipH="1" rot="10800000">
            <a:off x="6073194" y="3363835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0" name="Google Shape;170;p15"/>
          <p:cNvCxnSpPr>
            <a:stCxn id="171" idx="0"/>
            <a:endCxn id="137" idx="1"/>
          </p:cNvCxnSpPr>
          <p:nvPr/>
        </p:nvCxnSpPr>
        <p:spPr>
          <a:xfrm flipH="1" rot="10800000">
            <a:off x="5768394" y="3363835"/>
            <a:ext cx="11073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71" name="Google Shape;171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5651385" y="3729535"/>
            <a:ext cx="234017" cy="28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5"/>
          <p:cNvSpPr txBox="1"/>
          <p:nvPr/>
        </p:nvSpPr>
        <p:spPr>
          <a:xfrm rot="931">
            <a:off x="6390690" y="912973"/>
            <a:ext cx="110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pool tube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 rot="-1308">
            <a:off x="627569" y="2021978"/>
            <a:ext cx="78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collects in app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15"/>
          <p:cNvCxnSpPr>
            <a:stCxn id="173" idx="0"/>
            <a:endCxn id="152" idx="2"/>
          </p:cNvCxnSpPr>
          <p:nvPr/>
        </p:nvCxnSpPr>
        <p:spPr>
          <a:xfrm flipH="1" rot="10800000">
            <a:off x="1021919" y="1877378"/>
            <a:ext cx="2100" cy="14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4" name="Google Shape;124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2143904" y="1027924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224528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832213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528370" y="1595935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15"/>
          <p:cNvCxnSpPr>
            <a:stCxn id="176" idx="0"/>
            <a:endCxn id="124" idx="1"/>
          </p:cNvCxnSpPr>
          <p:nvPr/>
        </p:nvCxnSpPr>
        <p:spPr>
          <a:xfrm flipH="1" rot="10800000">
            <a:off x="1949221" y="1230235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9" name="Google Shape;179;p15"/>
          <p:cNvCxnSpPr>
            <a:stCxn id="177" idx="0"/>
            <a:endCxn id="124" idx="1"/>
          </p:cNvCxnSpPr>
          <p:nvPr/>
        </p:nvCxnSpPr>
        <p:spPr>
          <a:xfrm flipH="1" rot="10800000">
            <a:off x="1645379" y="1230235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0" name="Google Shape;180;p15"/>
          <p:cNvCxnSpPr>
            <a:stCxn id="175" idx="0"/>
            <a:endCxn id="124" idx="1"/>
          </p:cNvCxnSpPr>
          <p:nvPr/>
        </p:nvCxnSpPr>
        <p:spPr>
          <a:xfrm flipH="1" rot="10800000">
            <a:off x="1341537" y="1230235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1" name="Google Shape;181;p15"/>
          <p:cNvCxnSpPr>
            <a:stCxn id="152" idx="0"/>
            <a:endCxn id="124" idx="1"/>
          </p:cNvCxnSpPr>
          <p:nvPr/>
        </p:nvCxnSpPr>
        <p:spPr>
          <a:xfrm flipH="1" rot="10800000">
            <a:off x="1024050" y="1230252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15"/>
          <p:cNvSpPr txBox="1"/>
          <p:nvPr/>
        </p:nvSpPr>
        <p:spPr>
          <a:xfrm rot="-1173207">
            <a:off x="1306739" y="1250095"/>
            <a:ext cx="622075" cy="12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swab</a:t>
            </a:r>
            <a:endParaRPr sz="800"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 rot="931">
            <a:off x="1659033" y="912973"/>
            <a:ext cx="1107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pool tube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6">
            <a:alphaModFix/>
          </a:blip>
          <a:srcRect b="0" l="2821" r="2821" t="0"/>
          <a:stretch/>
        </p:blipFill>
        <p:spPr>
          <a:xfrm>
            <a:off x="907041" y="2630498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2143904" y="2062470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224528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832213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528370" y="2630481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5"/>
          <p:cNvCxnSpPr>
            <a:stCxn id="186" idx="0"/>
            <a:endCxn id="126" idx="1"/>
          </p:cNvCxnSpPr>
          <p:nvPr/>
        </p:nvCxnSpPr>
        <p:spPr>
          <a:xfrm flipH="1" rot="10800000">
            <a:off x="1949221" y="2264781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9" name="Google Shape;189;p15"/>
          <p:cNvCxnSpPr>
            <a:stCxn id="187" idx="0"/>
            <a:endCxn id="126" idx="1"/>
          </p:cNvCxnSpPr>
          <p:nvPr/>
        </p:nvCxnSpPr>
        <p:spPr>
          <a:xfrm flipH="1" rot="10800000">
            <a:off x="1645379" y="2264781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0" name="Google Shape;190;p15"/>
          <p:cNvCxnSpPr>
            <a:stCxn id="185" idx="0"/>
            <a:endCxn id="126" idx="1"/>
          </p:cNvCxnSpPr>
          <p:nvPr/>
        </p:nvCxnSpPr>
        <p:spPr>
          <a:xfrm flipH="1" rot="10800000">
            <a:off x="1341537" y="2264781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1" name="Google Shape;191;p15"/>
          <p:cNvCxnSpPr>
            <a:stCxn id="184" idx="0"/>
            <a:endCxn id="126" idx="1"/>
          </p:cNvCxnSpPr>
          <p:nvPr/>
        </p:nvCxnSpPr>
        <p:spPr>
          <a:xfrm flipH="1" rot="10800000">
            <a:off x="1024050" y="2264798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2" name="Google Shape;192;p15"/>
          <p:cNvPicPr preferRelativeResize="0"/>
          <p:nvPr/>
        </p:nvPicPr>
        <p:blipFill rotWithShape="1">
          <a:blip r:embed="rId6">
            <a:alphaModFix/>
          </a:blip>
          <a:srcRect b="0" l="2821" r="2821" t="0"/>
          <a:stretch/>
        </p:blipFill>
        <p:spPr>
          <a:xfrm>
            <a:off x="907041" y="3697298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10" t="-9601"/>
          <a:stretch/>
        </p:blipFill>
        <p:spPr>
          <a:xfrm>
            <a:off x="2143904" y="3129270"/>
            <a:ext cx="121415" cy="40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224528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832213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5"/>
          <p:cNvPicPr preferRelativeResize="0"/>
          <p:nvPr/>
        </p:nvPicPr>
        <p:blipFill rotWithShape="1">
          <a:blip r:embed="rId5">
            <a:alphaModFix/>
          </a:blip>
          <a:srcRect b="0" l="2821" r="2821" t="0"/>
          <a:stretch/>
        </p:blipFill>
        <p:spPr>
          <a:xfrm>
            <a:off x="1528370" y="3697281"/>
            <a:ext cx="234017" cy="281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15"/>
          <p:cNvCxnSpPr>
            <a:stCxn id="194" idx="0"/>
            <a:endCxn id="128" idx="1"/>
          </p:cNvCxnSpPr>
          <p:nvPr/>
        </p:nvCxnSpPr>
        <p:spPr>
          <a:xfrm flipH="1" rot="10800000">
            <a:off x="1949221" y="3331581"/>
            <a:ext cx="1947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7" name="Google Shape;197;p15"/>
          <p:cNvCxnSpPr>
            <a:stCxn id="195" idx="0"/>
            <a:endCxn id="128" idx="1"/>
          </p:cNvCxnSpPr>
          <p:nvPr/>
        </p:nvCxnSpPr>
        <p:spPr>
          <a:xfrm flipH="1" rot="10800000">
            <a:off x="1645379" y="3331581"/>
            <a:ext cx="4986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15"/>
          <p:cNvCxnSpPr>
            <a:stCxn id="193" idx="0"/>
            <a:endCxn id="128" idx="1"/>
          </p:cNvCxnSpPr>
          <p:nvPr/>
        </p:nvCxnSpPr>
        <p:spPr>
          <a:xfrm flipH="1" rot="10800000">
            <a:off x="1341537" y="3331581"/>
            <a:ext cx="8025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15"/>
          <p:cNvCxnSpPr>
            <a:stCxn id="192" idx="0"/>
            <a:endCxn id="128" idx="1"/>
          </p:cNvCxnSpPr>
          <p:nvPr/>
        </p:nvCxnSpPr>
        <p:spPr>
          <a:xfrm flipH="1" rot="10800000">
            <a:off x="1024050" y="3331598"/>
            <a:ext cx="1119900" cy="365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0" name="Google Shape;200;p15"/>
          <p:cNvSpPr txBox="1"/>
          <p:nvPr/>
        </p:nvSpPr>
        <p:spPr>
          <a:xfrm>
            <a:off x="539475" y="4190025"/>
            <a:ext cx="366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80340" lvl="0" marL="32004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Participants must approve Sponsor to add them to pool in app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/>
          <p:nvPr/>
        </p:nvSpPr>
        <p:spPr>
          <a:xfrm>
            <a:off x="1282512" y="745500"/>
            <a:ext cx="1536000" cy="97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Provisioned accounts are created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3177880" y="745500"/>
            <a:ext cx="1536000" cy="97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All users complete account registration and 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download</a:t>
            </a:r>
            <a:r>
              <a:rPr lang="en" sz="1100">
                <a:latin typeface="Roboto"/>
                <a:ea typeface="Roboto"/>
                <a:cs typeface="Roboto"/>
                <a:sym typeface="Roboto"/>
              </a:rPr>
              <a:t> app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5073248" y="745500"/>
            <a:ext cx="1536000" cy="979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Before first collection, all users must login to app and sign consent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282500" y="2091828"/>
            <a:ext cx="1536000" cy="979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Pool groups convene on site, collect samples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3177868" y="2091828"/>
            <a:ext cx="1536000" cy="979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Pool sponsor completes collection in app, returns samples to site bin by 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specified time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5073207" y="2091828"/>
            <a:ext cx="1536000" cy="979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Samples picked up from return bins at each site and delivered to lab by specified time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1282507" y="3438151"/>
            <a:ext cx="1536000" cy="97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1) Intake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2) Inactivation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3) Amp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4) Result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5) Rerun if needed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3177875" y="3438151"/>
            <a:ext cx="1536000" cy="9792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Results are entered in app by Lab Staff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7145350" y="2964525"/>
            <a:ext cx="1629600" cy="856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Participants are not notified. Admins and PI's review neg results in portal (participation).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7145350" y="4133350"/>
            <a:ext cx="1815900" cy="856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PI's receive email w names and contact info for people in 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positive</a:t>
            </a:r>
            <a:r>
              <a:rPr lang="en" sz="1000">
                <a:latin typeface="Roboto"/>
                <a:ea typeface="Roboto"/>
                <a:cs typeface="Roboto"/>
                <a:sym typeface="Roboto"/>
              </a:rPr>
              <a:t> pool 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SzPts val="1000"/>
              <a:buFont typeface="Roboto"/>
              <a:buChar char="●"/>
            </a:pPr>
            <a:r>
              <a:rPr lang="en" sz="1000">
                <a:latin typeface="Roboto"/>
                <a:ea typeface="Roboto"/>
                <a:cs typeface="Roboto"/>
                <a:sym typeface="Roboto"/>
              </a:rPr>
              <a:t>PI's and Admins determine notification and followup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08000" y="786000"/>
            <a:ext cx="9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SET UP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115200" y="2091825"/>
            <a:ext cx="108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COLLECT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115200" y="3438150"/>
            <a:ext cx="116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RETURN &amp; RESULTS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18" name="Google Shape;218;p16"/>
          <p:cNvCxnSpPr>
            <a:stCxn id="205" idx="3"/>
            <a:endCxn id="206" idx="1"/>
          </p:cNvCxnSpPr>
          <p:nvPr/>
        </p:nvCxnSpPr>
        <p:spPr>
          <a:xfrm>
            <a:off x="2818512" y="1235100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16"/>
          <p:cNvCxnSpPr>
            <a:stCxn id="206" idx="3"/>
            <a:endCxn id="207" idx="1"/>
          </p:cNvCxnSpPr>
          <p:nvPr/>
        </p:nvCxnSpPr>
        <p:spPr>
          <a:xfrm>
            <a:off x="4713880" y="1235100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16"/>
          <p:cNvCxnSpPr>
            <a:stCxn id="207" idx="3"/>
            <a:endCxn id="208" idx="0"/>
          </p:cNvCxnSpPr>
          <p:nvPr/>
        </p:nvCxnSpPr>
        <p:spPr>
          <a:xfrm flipH="1">
            <a:off x="2050448" y="1235100"/>
            <a:ext cx="4558800" cy="856800"/>
          </a:xfrm>
          <a:prstGeom prst="bentConnector4">
            <a:avLst>
              <a:gd fmla="val -5223" name="adj1"/>
              <a:gd fmla="val 785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16"/>
          <p:cNvCxnSpPr>
            <a:stCxn id="208" idx="3"/>
            <a:endCxn id="209" idx="1"/>
          </p:cNvCxnSpPr>
          <p:nvPr/>
        </p:nvCxnSpPr>
        <p:spPr>
          <a:xfrm>
            <a:off x="2818500" y="2581428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16"/>
          <p:cNvCxnSpPr>
            <a:stCxn id="209" idx="3"/>
            <a:endCxn id="210" idx="1"/>
          </p:cNvCxnSpPr>
          <p:nvPr/>
        </p:nvCxnSpPr>
        <p:spPr>
          <a:xfrm>
            <a:off x="4713868" y="2581428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6"/>
          <p:cNvCxnSpPr>
            <a:stCxn id="210" idx="3"/>
            <a:endCxn id="211" idx="0"/>
          </p:cNvCxnSpPr>
          <p:nvPr/>
        </p:nvCxnSpPr>
        <p:spPr>
          <a:xfrm flipH="1">
            <a:off x="2050407" y="2581428"/>
            <a:ext cx="4558800" cy="856800"/>
          </a:xfrm>
          <a:prstGeom prst="bentConnector4">
            <a:avLst>
              <a:gd fmla="val -5223" name="adj1"/>
              <a:gd fmla="val 785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16"/>
          <p:cNvCxnSpPr>
            <a:stCxn id="211" idx="3"/>
            <a:endCxn id="212" idx="1"/>
          </p:cNvCxnSpPr>
          <p:nvPr/>
        </p:nvCxnSpPr>
        <p:spPr>
          <a:xfrm>
            <a:off x="2818507" y="3927751"/>
            <a:ext cx="359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6"/>
          <p:cNvCxnSpPr>
            <a:stCxn id="212" idx="3"/>
            <a:endCxn id="214" idx="1"/>
          </p:cNvCxnSpPr>
          <p:nvPr/>
        </p:nvCxnSpPr>
        <p:spPr>
          <a:xfrm>
            <a:off x="4713875" y="3927751"/>
            <a:ext cx="2431500" cy="633900"/>
          </a:xfrm>
          <a:prstGeom prst="bentConnector3">
            <a:avLst>
              <a:gd fmla="val 29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16"/>
          <p:cNvSpPr txBox="1"/>
          <p:nvPr/>
        </p:nvSpPr>
        <p:spPr>
          <a:xfrm>
            <a:off x="5494500" y="3368482"/>
            <a:ext cx="1685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NOT DETECTED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(TEST NEGATIVE)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5506200" y="4512293"/>
            <a:ext cx="153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DETECTED</a:t>
            </a:r>
            <a:endParaRPr b="1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(TEST POSITIVE)</a:t>
            </a:r>
            <a:endParaRPr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148500" y="1215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Program w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orkflow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9" name="Google Shape;229;p16"/>
          <p:cNvCxnSpPr>
            <a:stCxn id="212" idx="3"/>
            <a:endCxn id="213" idx="1"/>
          </p:cNvCxnSpPr>
          <p:nvPr/>
        </p:nvCxnSpPr>
        <p:spPr>
          <a:xfrm flipH="1" rot="10800000">
            <a:off x="4713875" y="3392851"/>
            <a:ext cx="2431500" cy="534900"/>
          </a:xfrm>
          <a:prstGeom prst="bentConnector3">
            <a:avLst>
              <a:gd fmla="val 2992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16"/>
          <p:cNvSpPr/>
          <p:nvPr/>
        </p:nvSpPr>
        <p:spPr>
          <a:xfrm>
            <a:off x="7145350" y="1211925"/>
            <a:ext cx="1629600" cy="8568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09220" lvl="0" marL="914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Participants notified by email/txt that results are ready to view in app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16"/>
          <p:cNvCxnSpPr>
            <a:stCxn id="213" idx="0"/>
            <a:endCxn id="230" idx="2"/>
          </p:cNvCxnSpPr>
          <p:nvPr/>
        </p:nvCxnSpPr>
        <p:spPr>
          <a:xfrm rot="-5400000">
            <a:off x="7512550" y="2516325"/>
            <a:ext cx="8958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16"/>
          <p:cNvSpPr txBox="1"/>
          <p:nvPr/>
        </p:nvSpPr>
        <p:spPr>
          <a:xfrm>
            <a:off x="8051699" y="2156100"/>
            <a:ext cx="10302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Pending</a:t>
            </a:r>
            <a:endParaRPr i="1"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Legal Clearance</a:t>
            </a:r>
            <a:endParaRPr i="1"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/>
        </p:nvSpPr>
        <p:spPr>
          <a:xfrm>
            <a:off x="148500" y="599700"/>
            <a:ext cx="753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Give all employees 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uper Sponsor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role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maximum flexibility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employees agree not to do unauthorized collections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Give any on-site contractors, vendors, or family members Sponsor or Participant roles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148500" y="1215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Role Recommendations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148500" y="2276100"/>
            <a:ext cx="7713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Designate specific individuals to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do use app for collection on Day1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give them in person training - can be 5 to 15min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mainly training is having them go through an actual mock collection on App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them logout and log back in to App to make sure they have password handy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make sure they have site coordinator's contact info in case of problems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Encourage Sponsors to show and talk through process with interested Participants in their pools while they are doing the collection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60" lvl="1" marL="8229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create redundancy with more people capable of confidently being Sponsors and running collection in the app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backup option of Site Coordinator and potentially a few others prepared to Super Sponsor collect for many pools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148500" y="17979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Day1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 Recommendations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/>
        </p:nvSpPr>
        <p:spPr>
          <a:xfrm>
            <a:off x="148500" y="752100"/>
            <a:ext cx="82896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account in system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be avoided by confirming everyone has completed their account registration by clicking through on Appivo reg email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Resolution depends on time budget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Common mixup is that a different email address was used for account registration, or email address was misspelled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Preferably, Admin adds account on-the-fly and user completes registration as normal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Backup, Admin adds account, person signs paper consent, completes their reg later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2nd Backup if Admin not available, person signs paper consent, Sponsor adds name in Notes field during collection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Tube QR code not recognized on Intake Scan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Is QR Code visibly damaged?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Yes &gt; must type in number manually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No &gt; can try scanning with smartphone camera (open camera app and point at QR code, message to open in Browser should pop up)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lpha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Likely the Collection step was not completed by the Sponsor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Process tube in lab anyway - mark cap and side of tube with specific color marker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romanL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Admin and/or FloodLAMP can identify incomplete collection tubes in log files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148500" y="2739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Typical Problems and Solutions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/>
          <p:nvPr/>
        </p:nvSpPr>
        <p:spPr>
          <a:xfrm>
            <a:off x="148500" y="599700"/>
            <a:ext cx="753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printouts of Consents at each site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26059" lvl="0" marL="36576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arenR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Have labeled bins for each site (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link to good locking bin on Amazon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148500" y="121500"/>
            <a:ext cx="534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Prep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 Recommendations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148500" y="1416900"/>
            <a:ext cx="796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Clarification of Terminology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54" name="Google Shape;254;p19"/>
          <p:cNvGraphicFramePr/>
          <p:nvPr/>
        </p:nvGraphicFramePr>
        <p:xfrm>
          <a:off x="431225" y="202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{A2D2D916-1956-463D-BDC4-5177929CEB34}</a:tableStyleId>
              </a:tblPr>
              <a:tblGrid>
                <a:gridCol w="1615775"/>
                <a:gridCol w="3014800"/>
                <a:gridCol w="34990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User Role in App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General Meaning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Participant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can only be in pools, can't collect in App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whoever is in pool regardless of role, or anyone in the program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Sponsor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can collect in App, and also be in pools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requires participants to pre-approve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whoever is doing the collect in App and entering </a:t>
                      </a:r>
                      <a:r>
                        <a:rPr lang="en" sz="1200"/>
                        <a:t>participant</a:t>
                      </a:r>
                      <a:r>
                        <a:rPr lang="en" sz="1200"/>
                        <a:t> names into list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Super Sponsor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can collect anyone without pre-approval in app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mode of collection where a person collects for other people, sometimes many pools 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(e.g. Eagles conference, Kent camp)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